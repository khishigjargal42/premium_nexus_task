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81" d="100"/>
          <a:sy n="81" d="100"/>
        </p:scale>
        <p:origin x="725" y="53"/>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3/30/2026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3/30/2026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3/30/2026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3/30/2026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3/30/2026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3/30/2026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3/30/2026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432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Isosceles Triangle 2"/>
          <p:cNvSpPr/>
          <p:nvPr/>
        </p:nvSpPr>
        <p:spPr>
          <a:xfrm rot="5400000">
            <a:off x="5333695" y="-1526781"/>
            <a:ext cx="4572000" cy="9144000"/>
          </a:xfrm>
          <a:prstGeom prst="triangle">
            <a:avLst/>
          </a:prstGeom>
          <a:solidFill>
            <a:srgbClr val="0096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14400" y="2286000"/>
            <a:ext cx="10414261" cy="1815882"/>
          </a:xfrm>
          <a:prstGeom prst="rect">
            <a:avLst/>
          </a:prstGeom>
          <a:noFill/>
        </p:spPr>
        <p:txBody>
          <a:bodyPr wrap="none">
            <a:spAutoFit/>
          </a:bodyPr>
          <a:lstStyle/>
          <a:p>
            <a:pPr>
              <a:defRPr sz="4400" b="1">
                <a:solidFill>
                  <a:srgbClr val="FFFFFF"/>
                </a:solidFill>
              </a:defRPr>
            </a:pPr>
            <a:r>
              <a:rPr dirty="0" err="1"/>
              <a:t>Бизнесийн</a:t>
            </a:r>
            <a:r>
              <a:rPr dirty="0"/>
              <a:t> </a:t>
            </a:r>
            <a:r>
              <a:rPr dirty="0" err="1"/>
              <a:t>Гүйцэтгэл</a:t>
            </a:r>
            <a:r>
              <a:rPr dirty="0"/>
              <a:t> </a:t>
            </a:r>
            <a:r>
              <a:rPr dirty="0" err="1"/>
              <a:t>болон</a:t>
            </a:r>
            <a:r>
              <a:rPr dirty="0"/>
              <a:t> </a:t>
            </a:r>
            <a:r>
              <a:rPr dirty="0" err="1"/>
              <a:t>Хэрэглэгчийн</a:t>
            </a:r>
            <a:r>
              <a:rPr dirty="0"/>
              <a:t> </a:t>
            </a:r>
            <a:endParaRPr lang="en-US" dirty="0"/>
          </a:p>
          <a:p>
            <a:pPr>
              <a:defRPr sz="4400" b="1">
                <a:solidFill>
                  <a:srgbClr val="FFFFFF"/>
                </a:solidFill>
              </a:defRPr>
            </a:pPr>
            <a:r>
              <a:rPr dirty="0" err="1"/>
              <a:t>Сэтгэл</a:t>
            </a:r>
            <a:r>
              <a:rPr dirty="0"/>
              <a:t> </a:t>
            </a:r>
            <a:r>
              <a:rPr dirty="0" err="1"/>
              <a:t>Ханамжийн</a:t>
            </a:r>
            <a:r>
              <a:rPr dirty="0"/>
              <a:t> </a:t>
            </a:r>
            <a:r>
              <a:rPr dirty="0" err="1"/>
              <a:t>Шинжилгээ</a:t>
            </a:r>
            <a:endParaRPr dirty="0"/>
          </a:p>
          <a:p>
            <a:pPr>
              <a:defRPr sz="2400">
                <a:solidFill>
                  <a:srgbClr val="C8DCF0"/>
                </a:solidFill>
              </a:defRPr>
            </a:pPr>
            <a:r>
              <a:rPr dirty="0" err="1"/>
              <a:t>Гүйцэтгэх</a:t>
            </a:r>
            <a:r>
              <a:rPr dirty="0"/>
              <a:t> </a:t>
            </a:r>
            <a:r>
              <a:rPr dirty="0" err="1"/>
              <a:t>Хураангуй</a:t>
            </a:r>
            <a:r>
              <a:rPr dirty="0"/>
              <a:t> </a:t>
            </a:r>
            <a:r>
              <a:rPr dirty="0" err="1"/>
              <a:t>болон</a:t>
            </a:r>
            <a:r>
              <a:rPr dirty="0"/>
              <a:t> </a:t>
            </a:r>
            <a:r>
              <a:rPr dirty="0" err="1"/>
              <a:t>Стратегийн</a:t>
            </a:r>
            <a:r>
              <a:rPr dirty="0"/>
              <a:t> </a:t>
            </a:r>
            <a:r>
              <a:rPr dirty="0" err="1"/>
              <a:t>Санал</a:t>
            </a:r>
            <a:r>
              <a:rPr dirty="0"/>
              <a:t> </a:t>
            </a:r>
            <a:r>
              <a:rPr dirty="0" err="1"/>
              <a:t>Зөвлөмж</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0"/>
          </a:xfrm>
          <a:prstGeom prst="rect">
            <a:avLst/>
          </a:prstGeom>
          <a:solidFill>
            <a:srgbClr val="1432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97280"/>
            <a:ext cx="12191695" cy="73152"/>
          </a:xfrm>
          <a:prstGeom prst="rect">
            <a:avLst/>
          </a:prstGeom>
          <a:solidFill>
            <a:srgbClr val="0096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82880"/>
            <a:ext cx="11277295" cy="584775"/>
          </a:xfrm>
          <a:prstGeom prst="rect">
            <a:avLst/>
          </a:prstGeom>
          <a:noFill/>
        </p:spPr>
        <p:txBody>
          <a:bodyPr wrap="square">
            <a:spAutoFit/>
          </a:bodyPr>
          <a:lstStyle/>
          <a:p>
            <a:pPr algn="l">
              <a:defRPr sz="3200" b="1">
                <a:solidFill>
                  <a:srgbClr val="FFFFFF"/>
                </a:solidFill>
              </a:defRPr>
            </a:pPr>
            <a:r>
              <a:rPr lang="mn-MN" dirty="0"/>
              <a:t>Товч дүгнэлт</a:t>
            </a:r>
          </a:p>
        </p:txBody>
      </p:sp>
      <p:sp>
        <p:nvSpPr>
          <p:cNvPr id="5" name="TextBox 4"/>
          <p:cNvSpPr txBox="1"/>
          <p:nvPr/>
        </p:nvSpPr>
        <p:spPr>
          <a:xfrm>
            <a:off x="457200" y="1371600"/>
            <a:ext cx="10972800" cy="914400"/>
          </a:xfrm>
          <a:prstGeom prst="rect">
            <a:avLst/>
          </a:prstGeom>
          <a:noFill/>
        </p:spPr>
        <p:txBody>
          <a:bodyPr wrap="square">
            <a:spAutoFit/>
          </a:bodyPr>
          <a:lstStyle/>
          <a:p>
            <a:pPr>
              <a:defRPr sz="1800" b="0">
                <a:solidFill>
                  <a:srgbClr val="3C3C3C"/>
                </a:solidFill>
              </a:defRPr>
            </a:pPr>
            <a:r>
              <a:rPr lang="mn-MN" dirty="0"/>
              <a:t>Энэхүү танилцуулга нь борлуулалтын гүйцэтгэл, хэрэглэгчдийн зан төлөв, санал хүсэлтийн мэдээлэлд тулгуурлан бизнесийн одоогийн нөхцөл байдлыг илүү ойлгомжтой, бодитойгоор харуулж, гол өөрчлөлтүүд болон анхаарах шаардлагатай асуудлуудыг товч бөгөөд тодорхой дүгнэсэн болно.</a:t>
            </a:r>
            <a:endParaRPr dirty="0"/>
          </a:p>
        </p:txBody>
      </p:sp>
      <p:sp>
        <p:nvSpPr>
          <p:cNvPr id="6" name="Rounded Rectangle 5"/>
          <p:cNvSpPr/>
          <p:nvPr/>
        </p:nvSpPr>
        <p:spPr>
          <a:xfrm>
            <a:off x="457200" y="2560320"/>
            <a:ext cx="3474720" cy="3200400"/>
          </a:xfrm>
          <a:prstGeom prst="roundRect">
            <a:avLst/>
          </a:prstGeom>
          <a:solidFill>
            <a:srgbClr val="EBF5FF"/>
          </a:solidFill>
          <a:ln>
            <a:solidFill>
              <a:srgbClr val="0096C8"/>
            </a:solidFill>
          </a:ln>
        </p:spPr>
        <p:style>
          <a:lnRef idx="1">
            <a:schemeClr val="accent1"/>
          </a:lnRef>
          <a:fillRef idx="3">
            <a:schemeClr val="accent1"/>
          </a:fillRef>
          <a:effectRef idx="2">
            <a:schemeClr val="accent1"/>
          </a:effectRef>
          <a:fontRef idx="minor">
            <a:schemeClr val="lt1"/>
          </a:fontRef>
        </p:style>
        <p:txBody>
          <a:bodyPr wrap="square" rtlCol="0" anchor="ctr"/>
          <a:lstStyle/>
          <a:p>
            <a:r>
              <a:rPr lang="mn-MN" b="1" dirty="0">
                <a:solidFill>
                  <a:schemeClr val="tx1"/>
                </a:solidFill>
              </a:rPr>
              <a:t>Гол хөдөлгөгч хүч</a:t>
            </a:r>
          </a:p>
          <a:p>
            <a:r>
              <a:rPr lang="mn-MN" dirty="0">
                <a:solidFill>
                  <a:schemeClr val="tx1"/>
                </a:solidFill>
              </a:rPr>
              <a:t>“</a:t>
            </a:r>
            <a:r>
              <a:rPr lang="en-US" dirty="0">
                <a:solidFill>
                  <a:schemeClr val="tx1"/>
                </a:solidFill>
              </a:rPr>
              <a:t>Student value seeker” </a:t>
            </a:r>
            <a:r>
              <a:rPr lang="mn-MN" dirty="0">
                <a:solidFill>
                  <a:schemeClr val="tx1"/>
                </a:solidFill>
              </a:rPr>
              <a:t>сегмент бидний өсөлтийн гол тулгуур болж байна. Тэд өндөр орлого бүрдүүлж, тогтмол худалдан авалт хийж байгаа нь бизнесийн цөм хэрэглэгчид болж байгааг харуулж байна.</a:t>
            </a:r>
          </a:p>
        </p:txBody>
      </p:sp>
      <p:sp>
        <p:nvSpPr>
          <p:cNvPr id="7" name="Rounded Rectangle 6"/>
          <p:cNvSpPr/>
          <p:nvPr/>
        </p:nvSpPr>
        <p:spPr>
          <a:xfrm>
            <a:off x="4358487" y="2560320"/>
            <a:ext cx="3474720" cy="3200400"/>
          </a:xfrm>
          <a:prstGeom prst="roundRect">
            <a:avLst/>
          </a:prstGeom>
          <a:solidFill>
            <a:srgbClr val="FFF0F0"/>
          </a:solidFill>
          <a:ln>
            <a:solidFill>
              <a:srgbClr val="C83232"/>
            </a:solidFill>
          </a:ln>
        </p:spPr>
        <p:style>
          <a:lnRef idx="1">
            <a:schemeClr val="accent1"/>
          </a:lnRef>
          <a:fillRef idx="3">
            <a:schemeClr val="accent1"/>
          </a:fillRef>
          <a:effectRef idx="2">
            <a:schemeClr val="accent1"/>
          </a:effectRef>
          <a:fontRef idx="minor">
            <a:schemeClr val="lt1"/>
          </a:fontRef>
        </p:style>
        <p:txBody>
          <a:bodyPr wrap="square" rtlCol="0" anchor="ctr"/>
          <a:lstStyle/>
          <a:p>
            <a:r>
              <a:rPr lang="mn-MN" b="1" dirty="0">
                <a:solidFill>
                  <a:schemeClr val="tx1"/>
                </a:solidFill>
              </a:rPr>
              <a:t>Эрсдэл ба боломж</a:t>
            </a:r>
          </a:p>
          <a:p>
            <a:r>
              <a:rPr lang="mn-MN" dirty="0">
                <a:solidFill>
                  <a:schemeClr val="tx1"/>
                </a:solidFill>
              </a:rPr>
              <a:t>“</a:t>
            </a:r>
            <a:r>
              <a:rPr lang="en-US" dirty="0">
                <a:solidFill>
                  <a:schemeClr val="tx1"/>
                </a:solidFill>
              </a:rPr>
              <a:t>Ready-to-Eat” </a:t>
            </a:r>
            <a:r>
              <a:rPr lang="mn-MN" dirty="0">
                <a:solidFill>
                  <a:schemeClr val="tx1"/>
                </a:solidFill>
              </a:rPr>
              <a:t>ангилал орлогоор тэргүүлж байгаа ч хэрэглэгчийн сэтгэл ханамж харьцангуй сул байна — энэ нь сайжруулах шаардлагатайг илтгэнэ. Харин “</a:t>
            </a:r>
            <a:r>
              <a:rPr lang="en-US" dirty="0">
                <a:solidFill>
                  <a:schemeClr val="tx1"/>
                </a:solidFill>
              </a:rPr>
              <a:t>Dessert” </a:t>
            </a:r>
            <a:r>
              <a:rPr lang="mn-MN" dirty="0">
                <a:solidFill>
                  <a:schemeClr val="tx1"/>
                </a:solidFill>
              </a:rPr>
              <a:t>ангилалд сэтгэл ханамж өндөр байгаа нь цаашид өсөх, хөгжих том боломжийг харуулж байна.</a:t>
            </a:r>
          </a:p>
        </p:txBody>
      </p:sp>
      <p:sp>
        <p:nvSpPr>
          <p:cNvPr id="8" name="Rounded Rectangle 7"/>
          <p:cNvSpPr/>
          <p:nvPr/>
        </p:nvSpPr>
        <p:spPr>
          <a:xfrm>
            <a:off x="8138160" y="2561487"/>
            <a:ext cx="3474720" cy="3200400"/>
          </a:xfrm>
          <a:prstGeom prst="roundRect">
            <a:avLst/>
          </a:prstGeom>
          <a:solidFill>
            <a:srgbClr val="F0FFF0"/>
          </a:solidFill>
          <a:ln>
            <a:solidFill>
              <a:srgbClr val="329632"/>
            </a:solidFill>
          </a:ln>
        </p:spPr>
        <p:style>
          <a:lnRef idx="1">
            <a:schemeClr val="accent1"/>
          </a:lnRef>
          <a:fillRef idx="3">
            <a:schemeClr val="accent1"/>
          </a:fillRef>
          <a:effectRef idx="2">
            <a:schemeClr val="accent1"/>
          </a:effectRef>
          <a:fontRef idx="minor">
            <a:schemeClr val="lt1"/>
          </a:fontRef>
        </p:style>
        <p:txBody>
          <a:bodyPr wrap="square" rtlCol="0" anchor="ctr"/>
          <a:lstStyle/>
          <a:p>
            <a:r>
              <a:rPr lang="mn-MN" b="1" dirty="0">
                <a:solidFill>
                  <a:schemeClr val="tx1"/>
                </a:solidFill>
              </a:rPr>
              <a:t>Хямралын алдаа</a:t>
            </a:r>
          </a:p>
          <a:p>
            <a:r>
              <a:rPr lang="mn-MN" dirty="0">
                <a:solidFill>
                  <a:schemeClr val="tx1"/>
                </a:solidFill>
              </a:rPr>
              <a:t>“</a:t>
            </a:r>
            <a:r>
              <a:rPr lang="en-US" dirty="0">
                <a:solidFill>
                  <a:schemeClr val="tx1"/>
                </a:solidFill>
              </a:rPr>
              <a:t>Beverage” </a:t>
            </a:r>
            <a:r>
              <a:rPr lang="mn-MN" dirty="0">
                <a:solidFill>
                  <a:schemeClr val="tx1"/>
                </a:solidFill>
              </a:rPr>
              <a:t>ангилалд их хэмжээний хямдрал санал болгож байгаа ч орлого өсөхгүй байна. Энэ нь үнийн бодлогоо дахин үнэлж, илүү үр дүнтэй стратеги боловсруулах шаардлагатайг харуулж байна.</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0"/>
          </a:xfrm>
          <a:prstGeom prst="rect">
            <a:avLst/>
          </a:prstGeom>
          <a:solidFill>
            <a:srgbClr val="1432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97280"/>
            <a:ext cx="12191695" cy="73152"/>
          </a:xfrm>
          <a:prstGeom prst="rect">
            <a:avLst/>
          </a:prstGeom>
          <a:solidFill>
            <a:srgbClr val="0096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82880"/>
            <a:ext cx="11277295" cy="731520"/>
          </a:xfrm>
          <a:prstGeom prst="rect">
            <a:avLst/>
          </a:prstGeom>
          <a:noFill/>
        </p:spPr>
        <p:txBody>
          <a:bodyPr wrap="square">
            <a:spAutoFit/>
          </a:bodyPr>
          <a:lstStyle/>
          <a:p>
            <a:pPr algn="l">
              <a:defRPr sz="3200" b="1">
                <a:solidFill>
                  <a:srgbClr val="FFFFFF"/>
                </a:solidFill>
              </a:defRPr>
            </a:pPr>
            <a:r>
              <a:t>Хэрэглэгчийн Сегментийн Гүйцэтгэл</a:t>
            </a:r>
          </a:p>
        </p:txBody>
      </p:sp>
      <p:graphicFrame>
        <p:nvGraphicFramePr>
          <p:cNvPr id="5" name="Table 4"/>
          <p:cNvGraphicFramePr>
            <a:graphicFrameLocks noGrp="1"/>
          </p:cNvGraphicFramePr>
          <p:nvPr/>
        </p:nvGraphicFramePr>
        <p:xfrm>
          <a:off x="457200" y="1371600"/>
          <a:ext cx="5486400" cy="2286000"/>
        </p:xfrm>
        <a:graphic>
          <a:graphicData uri="http://schemas.openxmlformats.org/drawingml/2006/table">
            <a:tbl>
              <a:tblPr firstRow="1" bandRow="1">
                <a:tableStyleId>{5C22544A-7EE6-4342-B048-85BDC9FD1C3A}</a:tableStyleId>
              </a:tblPr>
              <a:tblGrid>
                <a:gridCol w="137160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tblGrid>
              <a:tr h="381000">
                <a:tc>
                  <a:txBody>
                    <a:bodyPr/>
                    <a:lstStyle/>
                    <a:p>
                      <a:pPr algn="ctr">
                        <a:defRPr sz="1400" b="1">
                          <a:solidFill>
                            <a:srgbClr val="FFFFFF"/>
                          </a:solidFill>
                        </a:defRPr>
                      </a:pPr>
                      <a:r>
                        <a:t>Сегмент</a:t>
                      </a:r>
                    </a:p>
                  </a:txBody>
                  <a:tcPr>
                    <a:solidFill>
                      <a:srgbClr val="14325A"/>
                    </a:solidFill>
                  </a:tcPr>
                </a:tc>
                <a:tc>
                  <a:txBody>
                    <a:bodyPr/>
                    <a:lstStyle/>
                    <a:p>
                      <a:pPr algn="ctr">
                        <a:defRPr sz="1400" b="1">
                          <a:solidFill>
                            <a:srgbClr val="FFFFFF"/>
                          </a:solidFill>
                        </a:defRPr>
                      </a:pPr>
                      <a:r>
                        <a:t>Орлого (сая ₮)</a:t>
                      </a:r>
                    </a:p>
                  </a:txBody>
                  <a:tcPr>
                    <a:solidFill>
                      <a:srgbClr val="14325A"/>
                    </a:solidFill>
                  </a:tcPr>
                </a:tc>
                <a:tc>
                  <a:txBody>
                    <a:bodyPr/>
                    <a:lstStyle/>
                    <a:p>
                      <a:pPr algn="ctr">
                        <a:defRPr sz="1400" b="1">
                          <a:solidFill>
                            <a:srgbClr val="FFFFFF"/>
                          </a:solidFill>
                        </a:defRPr>
                      </a:pPr>
                      <a:r>
                        <a:t>Гүйлгээ</a:t>
                      </a:r>
                    </a:p>
                  </a:txBody>
                  <a:tcPr>
                    <a:solidFill>
                      <a:srgbClr val="14325A"/>
                    </a:solidFill>
                  </a:tcPr>
                </a:tc>
                <a:tc>
                  <a:txBody>
                    <a:bodyPr/>
                    <a:lstStyle/>
                    <a:p>
                      <a:pPr algn="ctr">
                        <a:defRPr sz="1400" b="1">
                          <a:solidFill>
                            <a:srgbClr val="FFFFFF"/>
                          </a:solidFill>
                        </a:defRPr>
                      </a:pPr>
                      <a:r>
                        <a:t>Дундаж (₮)</a:t>
                      </a:r>
                    </a:p>
                  </a:txBody>
                  <a:tcPr>
                    <a:solidFill>
                      <a:srgbClr val="14325A"/>
                    </a:solidFill>
                  </a:tcPr>
                </a:tc>
                <a:extLst>
                  <a:ext uri="{0D108BD9-81ED-4DB2-BD59-A6C34878D82A}">
                    <a16:rowId xmlns:a16="http://schemas.microsoft.com/office/drawing/2014/main" val="10000"/>
                  </a:ext>
                </a:extLst>
              </a:tr>
              <a:tr h="381000">
                <a:tc>
                  <a:txBody>
                    <a:bodyPr/>
                    <a:lstStyle/>
                    <a:p>
                      <a:pPr algn="ctr">
                        <a:defRPr sz="1300">
                          <a:solidFill>
                            <a:srgbClr val="3C3C3C"/>
                          </a:solidFill>
                        </a:defRPr>
                      </a:pPr>
                      <a:r>
                        <a:t>Student</a:t>
                      </a:r>
                    </a:p>
                  </a:txBody>
                  <a:tcPr>
                    <a:solidFill>
                      <a:srgbClr val="EBF0F5"/>
                    </a:solidFill>
                  </a:tcPr>
                </a:tc>
                <a:tc>
                  <a:txBody>
                    <a:bodyPr/>
                    <a:lstStyle/>
                    <a:p>
                      <a:pPr algn="ctr">
                        <a:defRPr sz="1300">
                          <a:solidFill>
                            <a:srgbClr val="3C3C3C"/>
                          </a:solidFill>
                        </a:defRPr>
                      </a:pPr>
                      <a:r>
                        <a:t>16.1</a:t>
                      </a:r>
                    </a:p>
                  </a:txBody>
                  <a:tcPr>
                    <a:solidFill>
                      <a:srgbClr val="EBF0F5"/>
                    </a:solidFill>
                  </a:tcPr>
                </a:tc>
                <a:tc>
                  <a:txBody>
                    <a:bodyPr/>
                    <a:lstStyle/>
                    <a:p>
                      <a:pPr algn="ctr">
                        <a:defRPr sz="1300">
                          <a:solidFill>
                            <a:srgbClr val="3C3C3C"/>
                          </a:solidFill>
                        </a:defRPr>
                      </a:pPr>
                      <a:r>
                        <a:t>1173</a:t>
                      </a:r>
                    </a:p>
                  </a:txBody>
                  <a:tcPr>
                    <a:solidFill>
                      <a:srgbClr val="EBF0F5"/>
                    </a:solidFill>
                  </a:tcPr>
                </a:tc>
                <a:tc>
                  <a:txBody>
                    <a:bodyPr/>
                    <a:lstStyle/>
                    <a:p>
                      <a:pPr algn="ctr">
                        <a:defRPr sz="1300">
                          <a:solidFill>
                            <a:srgbClr val="3C3C3C"/>
                          </a:solidFill>
                        </a:defRPr>
                      </a:pPr>
                      <a:r>
                        <a:t>472182</a:t>
                      </a:r>
                    </a:p>
                  </a:txBody>
                  <a:tcPr>
                    <a:solidFill>
                      <a:srgbClr val="EBF0F5"/>
                    </a:solidFill>
                  </a:tcPr>
                </a:tc>
                <a:extLst>
                  <a:ext uri="{0D108BD9-81ED-4DB2-BD59-A6C34878D82A}">
                    <a16:rowId xmlns:a16="http://schemas.microsoft.com/office/drawing/2014/main" val="10001"/>
                  </a:ext>
                </a:extLst>
              </a:tr>
              <a:tr h="381000">
                <a:tc>
                  <a:txBody>
                    <a:bodyPr/>
                    <a:lstStyle/>
                    <a:p>
                      <a:pPr algn="ctr">
                        <a:defRPr sz="1300">
                          <a:solidFill>
                            <a:srgbClr val="3C3C3C"/>
                          </a:solidFill>
                        </a:defRPr>
                      </a:pPr>
                      <a:r>
                        <a:t>Commuter</a:t>
                      </a:r>
                    </a:p>
                  </a:txBody>
                  <a:tcPr>
                    <a:solidFill>
                      <a:srgbClr val="FFFFFF"/>
                    </a:solidFill>
                  </a:tcPr>
                </a:tc>
                <a:tc>
                  <a:txBody>
                    <a:bodyPr/>
                    <a:lstStyle/>
                    <a:p>
                      <a:pPr algn="ctr">
                        <a:defRPr sz="1300">
                          <a:solidFill>
                            <a:srgbClr val="3C3C3C"/>
                          </a:solidFill>
                        </a:defRPr>
                      </a:pPr>
                      <a:r>
                        <a:t>13.9</a:t>
                      </a:r>
                    </a:p>
                  </a:txBody>
                  <a:tcPr>
                    <a:solidFill>
                      <a:srgbClr val="FFFFFF"/>
                    </a:solidFill>
                  </a:tcPr>
                </a:tc>
                <a:tc>
                  <a:txBody>
                    <a:bodyPr/>
                    <a:lstStyle/>
                    <a:p>
                      <a:pPr algn="ctr">
                        <a:defRPr sz="1300">
                          <a:solidFill>
                            <a:srgbClr val="3C3C3C"/>
                          </a:solidFill>
                        </a:defRPr>
                      </a:pPr>
                      <a:r>
                        <a:t>1016</a:t>
                      </a:r>
                    </a:p>
                  </a:txBody>
                  <a:tcPr>
                    <a:solidFill>
                      <a:srgbClr val="FFFFFF"/>
                    </a:solidFill>
                  </a:tcPr>
                </a:tc>
                <a:tc>
                  <a:txBody>
                    <a:bodyPr/>
                    <a:lstStyle/>
                    <a:p>
                      <a:pPr algn="ctr">
                        <a:defRPr sz="1300">
                          <a:solidFill>
                            <a:srgbClr val="3C3C3C"/>
                          </a:solidFill>
                        </a:defRPr>
                      </a:pPr>
                      <a:r>
                        <a:t>513522</a:t>
                      </a:r>
                    </a:p>
                  </a:txBody>
                  <a:tcPr>
                    <a:solidFill>
                      <a:srgbClr val="FFFFFF"/>
                    </a:solidFill>
                  </a:tcPr>
                </a:tc>
                <a:extLst>
                  <a:ext uri="{0D108BD9-81ED-4DB2-BD59-A6C34878D82A}">
                    <a16:rowId xmlns:a16="http://schemas.microsoft.com/office/drawing/2014/main" val="10002"/>
                  </a:ext>
                </a:extLst>
              </a:tr>
              <a:tr h="381000">
                <a:tc>
                  <a:txBody>
                    <a:bodyPr/>
                    <a:lstStyle/>
                    <a:p>
                      <a:pPr algn="ctr">
                        <a:defRPr sz="1300">
                          <a:solidFill>
                            <a:srgbClr val="3C3C3C"/>
                          </a:solidFill>
                        </a:defRPr>
                      </a:pPr>
                      <a:r>
                        <a:t>Office</a:t>
                      </a:r>
                    </a:p>
                  </a:txBody>
                  <a:tcPr>
                    <a:solidFill>
                      <a:srgbClr val="EBF0F5"/>
                    </a:solidFill>
                  </a:tcPr>
                </a:tc>
                <a:tc>
                  <a:txBody>
                    <a:bodyPr/>
                    <a:lstStyle/>
                    <a:p>
                      <a:pPr algn="ctr">
                        <a:defRPr sz="1300">
                          <a:solidFill>
                            <a:srgbClr val="3C3C3C"/>
                          </a:solidFill>
                        </a:defRPr>
                      </a:pPr>
                      <a:r>
                        <a:t>12.1</a:t>
                      </a:r>
                    </a:p>
                  </a:txBody>
                  <a:tcPr>
                    <a:solidFill>
                      <a:srgbClr val="EBF0F5"/>
                    </a:solidFill>
                  </a:tcPr>
                </a:tc>
                <a:tc>
                  <a:txBody>
                    <a:bodyPr/>
                    <a:lstStyle/>
                    <a:p>
                      <a:pPr algn="ctr">
                        <a:defRPr sz="1300">
                          <a:solidFill>
                            <a:srgbClr val="3C3C3C"/>
                          </a:solidFill>
                        </a:defRPr>
                      </a:pPr>
                      <a:r>
                        <a:t>902</a:t>
                      </a:r>
                    </a:p>
                  </a:txBody>
                  <a:tcPr>
                    <a:solidFill>
                      <a:srgbClr val="EBF0F5"/>
                    </a:solidFill>
                  </a:tcPr>
                </a:tc>
                <a:tc>
                  <a:txBody>
                    <a:bodyPr/>
                    <a:lstStyle/>
                    <a:p>
                      <a:pPr algn="ctr">
                        <a:defRPr sz="1300">
                          <a:solidFill>
                            <a:srgbClr val="3C3C3C"/>
                          </a:solidFill>
                        </a:defRPr>
                      </a:pPr>
                      <a:r>
                        <a:t>466376</a:t>
                      </a:r>
                    </a:p>
                  </a:txBody>
                  <a:tcPr>
                    <a:solidFill>
                      <a:srgbClr val="EBF0F5"/>
                    </a:solidFill>
                  </a:tcPr>
                </a:tc>
                <a:extLst>
                  <a:ext uri="{0D108BD9-81ED-4DB2-BD59-A6C34878D82A}">
                    <a16:rowId xmlns:a16="http://schemas.microsoft.com/office/drawing/2014/main" val="10003"/>
                  </a:ext>
                </a:extLst>
              </a:tr>
              <a:tr h="381000">
                <a:tc>
                  <a:txBody>
                    <a:bodyPr/>
                    <a:lstStyle/>
                    <a:p>
                      <a:pPr algn="ctr">
                        <a:defRPr sz="1300">
                          <a:solidFill>
                            <a:srgbClr val="3C3C3C"/>
                          </a:solidFill>
                        </a:defRPr>
                      </a:pPr>
                      <a:r>
                        <a:t>Healthy</a:t>
                      </a:r>
                    </a:p>
                  </a:txBody>
                  <a:tcPr>
                    <a:solidFill>
                      <a:srgbClr val="FFFFFF"/>
                    </a:solidFill>
                  </a:tcPr>
                </a:tc>
                <a:tc>
                  <a:txBody>
                    <a:bodyPr/>
                    <a:lstStyle/>
                    <a:p>
                      <a:pPr algn="ctr">
                        <a:defRPr sz="1300">
                          <a:solidFill>
                            <a:srgbClr val="3C3C3C"/>
                          </a:solidFill>
                        </a:defRPr>
                      </a:pPr>
                      <a:r>
                        <a:t>9.1</a:t>
                      </a:r>
                    </a:p>
                  </a:txBody>
                  <a:tcPr>
                    <a:solidFill>
                      <a:srgbClr val="FFFFFF"/>
                    </a:solidFill>
                  </a:tcPr>
                </a:tc>
                <a:tc>
                  <a:txBody>
                    <a:bodyPr/>
                    <a:lstStyle/>
                    <a:p>
                      <a:pPr algn="ctr">
                        <a:defRPr sz="1300">
                          <a:solidFill>
                            <a:srgbClr val="3C3C3C"/>
                          </a:solidFill>
                        </a:defRPr>
                      </a:pPr>
                      <a:r>
                        <a:t>677</a:t>
                      </a:r>
                    </a:p>
                  </a:txBody>
                  <a:tcPr>
                    <a:solidFill>
                      <a:srgbClr val="FFFFFF"/>
                    </a:solidFill>
                  </a:tcPr>
                </a:tc>
                <a:tc>
                  <a:txBody>
                    <a:bodyPr/>
                    <a:lstStyle/>
                    <a:p>
                      <a:pPr algn="ctr">
                        <a:defRPr sz="1300">
                          <a:solidFill>
                            <a:srgbClr val="3C3C3C"/>
                          </a:solidFill>
                        </a:defRPr>
                      </a:pPr>
                      <a:r>
                        <a:t>504905</a:t>
                      </a:r>
                    </a:p>
                  </a:txBody>
                  <a:tcPr>
                    <a:solidFill>
                      <a:srgbClr val="FFFFFF"/>
                    </a:solidFill>
                  </a:tcPr>
                </a:tc>
                <a:extLst>
                  <a:ext uri="{0D108BD9-81ED-4DB2-BD59-A6C34878D82A}">
                    <a16:rowId xmlns:a16="http://schemas.microsoft.com/office/drawing/2014/main" val="10004"/>
                  </a:ext>
                </a:extLst>
              </a:tr>
              <a:tr h="381000">
                <a:tc>
                  <a:txBody>
                    <a:bodyPr/>
                    <a:lstStyle/>
                    <a:p>
                      <a:pPr algn="ctr">
                        <a:defRPr sz="1300">
                          <a:solidFill>
                            <a:srgbClr val="3C3C3C"/>
                          </a:solidFill>
                        </a:defRPr>
                      </a:pPr>
                      <a:r>
                        <a:t>Family</a:t>
                      </a:r>
                    </a:p>
                  </a:txBody>
                  <a:tcPr>
                    <a:solidFill>
                      <a:srgbClr val="EBF0F5"/>
                    </a:solidFill>
                  </a:tcPr>
                </a:tc>
                <a:tc>
                  <a:txBody>
                    <a:bodyPr/>
                    <a:lstStyle/>
                    <a:p>
                      <a:pPr algn="ctr">
                        <a:defRPr sz="1300">
                          <a:solidFill>
                            <a:srgbClr val="3C3C3C"/>
                          </a:solidFill>
                        </a:defRPr>
                      </a:pPr>
                      <a:r>
                        <a:t>6.7</a:t>
                      </a:r>
                    </a:p>
                  </a:txBody>
                  <a:tcPr>
                    <a:solidFill>
                      <a:srgbClr val="EBF0F5"/>
                    </a:solidFill>
                  </a:tcPr>
                </a:tc>
                <a:tc>
                  <a:txBody>
                    <a:bodyPr/>
                    <a:lstStyle/>
                    <a:p>
                      <a:pPr algn="ctr">
                        <a:defRPr sz="1300">
                          <a:solidFill>
                            <a:srgbClr val="3C3C3C"/>
                          </a:solidFill>
                        </a:defRPr>
                      </a:pPr>
                      <a:r>
                        <a:t>505</a:t>
                      </a:r>
                    </a:p>
                  </a:txBody>
                  <a:tcPr>
                    <a:solidFill>
                      <a:srgbClr val="EBF0F5"/>
                    </a:solidFill>
                  </a:tcPr>
                </a:tc>
                <a:tc>
                  <a:txBody>
                    <a:bodyPr/>
                    <a:lstStyle/>
                    <a:p>
                      <a:pPr algn="ctr">
                        <a:defRPr sz="1300">
                          <a:solidFill>
                            <a:srgbClr val="3C3C3C"/>
                          </a:solidFill>
                        </a:defRPr>
                      </a:pPr>
                      <a:r>
                        <a:t>444446</a:t>
                      </a:r>
                    </a:p>
                  </a:txBody>
                  <a:tcPr>
                    <a:solidFill>
                      <a:srgbClr val="EBF0F5"/>
                    </a:solidFill>
                  </a:tcPr>
                </a:tc>
                <a:extLst>
                  <a:ext uri="{0D108BD9-81ED-4DB2-BD59-A6C34878D82A}">
                    <a16:rowId xmlns:a16="http://schemas.microsoft.com/office/drawing/2014/main" val="10005"/>
                  </a:ext>
                </a:extLst>
              </a:tr>
            </a:tbl>
          </a:graphicData>
        </a:graphic>
      </p:graphicFrame>
      <p:pic>
        <p:nvPicPr>
          <p:cNvPr id="6" name="Picture 5" descr="modern_chart1.png"/>
          <p:cNvPicPr>
            <a:picLocks noChangeAspect="1"/>
          </p:cNvPicPr>
          <p:nvPr/>
        </p:nvPicPr>
        <p:blipFill>
          <a:blip r:embed="rId2"/>
          <a:stretch>
            <a:fillRect/>
          </a:stretch>
        </p:blipFill>
        <p:spPr>
          <a:xfrm>
            <a:off x="6217920" y="1371600"/>
            <a:ext cx="5669280" cy="3644537"/>
          </a:xfrm>
          <a:prstGeom prst="rect">
            <a:avLst/>
          </a:prstGeom>
        </p:spPr>
      </p:pic>
      <p:sp>
        <p:nvSpPr>
          <p:cNvPr id="7" name="TextBox 6"/>
          <p:cNvSpPr txBox="1"/>
          <p:nvPr/>
        </p:nvSpPr>
        <p:spPr>
          <a:xfrm>
            <a:off x="457200" y="4572000"/>
            <a:ext cx="10972800" cy="457200"/>
          </a:xfrm>
          <a:prstGeom prst="rect">
            <a:avLst/>
          </a:prstGeom>
          <a:noFill/>
        </p:spPr>
        <p:txBody>
          <a:bodyPr wrap="square">
            <a:spAutoFit/>
          </a:bodyPr>
          <a:lstStyle/>
          <a:p>
            <a:pPr>
              <a:defRPr sz="1600" b="1">
                <a:solidFill>
                  <a:srgbClr val="3C3C3C"/>
                </a:solidFill>
              </a:defRPr>
            </a:pPr>
            <a:r>
              <a:t>Түлхүүр Ололтууд:</a:t>
            </a:r>
          </a:p>
        </p:txBody>
      </p:sp>
      <p:sp>
        <p:nvSpPr>
          <p:cNvPr id="8" name="TextBox 7"/>
          <p:cNvSpPr txBox="1"/>
          <p:nvPr/>
        </p:nvSpPr>
        <p:spPr>
          <a:xfrm>
            <a:off x="457200" y="5029200"/>
            <a:ext cx="10972800" cy="1200329"/>
          </a:xfrm>
          <a:prstGeom prst="rect">
            <a:avLst/>
          </a:prstGeom>
          <a:noFill/>
        </p:spPr>
        <p:txBody>
          <a:bodyPr wrap="square">
            <a:spAutoFit/>
          </a:bodyPr>
          <a:lstStyle/>
          <a:p>
            <a:pPr>
              <a:defRPr sz="1800" b="0">
                <a:solidFill>
                  <a:srgbClr val="3C3C3C"/>
                </a:solidFill>
              </a:defRPr>
            </a:pPr>
            <a:r>
              <a:rPr dirty="0"/>
              <a:t>• </a:t>
            </a:r>
            <a:r>
              <a:rPr dirty="0" err="1"/>
              <a:t>Оюутнуудын</a:t>
            </a:r>
            <a:r>
              <a:rPr lang="en-US" dirty="0"/>
              <a:t> </a:t>
            </a:r>
            <a:r>
              <a:rPr lang="mn-MN" dirty="0"/>
              <a:t>сурагчдын</a:t>
            </a:r>
            <a:r>
              <a:rPr dirty="0"/>
              <a:t> </a:t>
            </a:r>
            <a:r>
              <a:rPr dirty="0" err="1"/>
              <a:t>давамгайлал</a:t>
            </a:r>
            <a:r>
              <a:rPr dirty="0"/>
              <a:t>: 'Student value seeker' </a:t>
            </a:r>
            <a:r>
              <a:rPr dirty="0" err="1"/>
              <a:t>нь</a:t>
            </a:r>
            <a:r>
              <a:rPr dirty="0"/>
              <a:t> </a:t>
            </a:r>
            <a:r>
              <a:rPr dirty="0" err="1"/>
              <a:t>хамгийн</a:t>
            </a:r>
            <a:r>
              <a:rPr dirty="0"/>
              <a:t> </a:t>
            </a:r>
            <a:r>
              <a:rPr dirty="0" err="1"/>
              <a:t>өндөр</a:t>
            </a:r>
            <a:r>
              <a:rPr dirty="0"/>
              <a:t> </a:t>
            </a:r>
            <a:r>
              <a:rPr dirty="0" err="1"/>
              <a:t>орлого</a:t>
            </a:r>
            <a:r>
              <a:rPr dirty="0"/>
              <a:t> </a:t>
            </a:r>
            <a:r>
              <a:rPr dirty="0" err="1"/>
              <a:t>болон</a:t>
            </a:r>
            <a:r>
              <a:rPr dirty="0"/>
              <a:t> </a:t>
            </a:r>
            <a:r>
              <a:rPr dirty="0" err="1"/>
              <a:t>гүйлгээний</a:t>
            </a:r>
            <a:r>
              <a:rPr dirty="0"/>
              <a:t> </a:t>
            </a:r>
            <a:r>
              <a:rPr dirty="0" err="1"/>
              <a:t>тоог</a:t>
            </a:r>
            <a:r>
              <a:rPr dirty="0"/>
              <a:t> </a:t>
            </a:r>
            <a:r>
              <a:rPr dirty="0" err="1"/>
              <a:t>авчирсан</a:t>
            </a:r>
            <a:r>
              <a:rPr dirty="0"/>
              <a:t>.</a:t>
            </a:r>
          </a:p>
          <a:p>
            <a:r>
              <a:rPr dirty="0"/>
              <a:t>• </a:t>
            </a:r>
            <a:r>
              <a:rPr dirty="0" err="1"/>
              <a:t>Өндөр</a:t>
            </a:r>
            <a:r>
              <a:rPr dirty="0"/>
              <a:t> </a:t>
            </a:r>
            <a:r>
              <a:rPr dirty="0" err="1"/>
              <a:t>үнэ</a:t>
            </a:r>
            <a:r>
              <a:rPr dirty="0"/>
              <a:t> </a:t>
            </a:r>
            <a:r>
              <a:rPr dirty="0" err="1"/>
              <a:t>цэнэтэй</a:t>
            </a:r>
            <a:r>
              <a:rPr dirty="0"/>
              <a:t>: 'Morning commuter' </a:t>
            </a:r>
            <a:r>
              <a:rPr dirty="0" err="1"/>
              <a:t>тоогоор</a:t>
            </a:r>
            <a:r>
              <a:rPr dirty="0"/>
              <a:t> </a:t>
            </a:r>
            <a:r>
              <a:rPr dirty="0" err="1"/>
              <a:t>цөөн</a:t>
            </a:r>
            <a:r>
              <a:rPr dirty="0"/>
              <a:t> ч </a:t>
            </a:r>
            <a:r>
              <a:rPr dirty="0" err="1"/>
              <a:t>нэг</a:t>
            </a:r>
            <a:r>
              <a:rPr dirty="0"/>
              <a:t> </a:t>
            </a:r>
            <a:r>
              <a:rPr dirty="0" err="1"/>
              <a:t>хүнд</a:t>
            </a:r>
            <a:r>
              <a:rPr dirty="0"/>
              <a:t> </a:t>
            </a:r>
            <a:r>
              <a:rPr dirty="0" err="1"/>
              <a:t>ногдох</a:t>
            </a:r>
            <a:r>
              <a:rPr dirty="0"/>
              <a:t> </a:t>
            </a:r>
            <a:r>
              <a:rPr dirty="0" err="1"/>
              <a:t>дундаж</a:t>
            </a:r>
            <a:r>
              <a:rPr dirty="0"/>
              <a:t> </a:t>
            </a:r>
            <a:r>
              <a:rPr dirty="0" err="1"/>
              <a:t>орлого</a:t>
            </a:r>
            <a:r>
              <a:rPr dirty="0"/>
              <a:t> </a:t>
            </a:r>
            <a:r>
              <a:rPr dirty="0" err="1"/>
              <a:t>хамгийн</a:t>
            </a:r>
            <a:r>
              <a:rPr dirty="0"/>
              <a:t> </a:t>
            </a:r>
            <a:r>
              <a:rPr dirty="0" err="1"/>
              <a:t>өндөр</a:t>
            </a:r>
            <a:r>
              <a:rPr dirty="0"/>
              <a:t> </a:t>
            </a:r>
            <a:r>
              <a:rPr dirty="0" err="1"/>
              <a:t>байна</a:t>
            </a:r>
            <a:r>
              <a:rPr dirty="0"/>
              <a: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0"/>
          </a:xfrm>
          <a:prstGeom prst="rect">
            <a:avLst/>
          </a:prstGeom>
          <a:solidFill>
            <a:srgbClr val="1432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97280"/>
            <a:ext cx="12191695" cy="73152"/>
          </a:xfrm>
          <a:prstGeom prst="rect">
            <a:avLst/>
          </a:prstGeom>
          <a:solidFill>
            <a:srgbClr val="0096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82880"/>
            <a:ext cx="11277295" cy="731520"/>
          </a:xfrm>
          <a:prstGeom prst="rect">
            <a:avLst/>
          </a:prstGeom>
          <a:noFill/>
        </p:spPr>
        <p:txBody>
          <a:bodyPr wrap="square">
            <a:spAutoFit/>
          </a:bodyPr>
          <a:lstStyle/>
          <a:p>
            <a:pPr algn="l">
              <a:defRPr sz="3200" b="1">
                <a:solidFill>
                  <a:srgbClr val="FFFFFF"/>
                </a:solidFill>
              </a:defRPr>
            </a:pPr>
            <a:r>
              <a:t>Бүтээгдэхүүний Ангилал: Орлого vs Сэтгэл Ханамж</a:t>
            </a:r>
          </a:p>
        </p:txBody>
      </p:sp>
      <p:graphicFrame>
        <p:nvGraphicFramePr>
          <p:cNvPr id="5" name="Table 4"/>
          <p:cNvGraphicFramePr>
            <a:graphicFrameLocks noGrp="1"/>
          </p:cNvGraphicFramePr>
          <p:nvPr/>
        </p:nvGraphicFramePr>
        <p:xfrm>
          <a:off x="457200" y="1371600"/>
          <a:ext cx="5486400" cy="2286000"/>
        </p:xfrm>
        <a:graphic>
          <a:graphicData uri="http://schemas.openxmlformats.org/drawingml/2006/table">
            <a:tbl>
              <a:tblPr firstRow="1" bandRow="1">
                <a:tableStyleId>{5C22544A-7EE6-4342-B048-85BDC9FD1C3A}</a:tableStyleId>
              </a:tblPr>
              <a:tblGrid>
                <a:gridCol w="137160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tblGrid>
              <a:tr h="381000">
                <a:tc>
                  <a:txBody>
                    <a:bodyPr/>
                    <a:lstStyle/>
                    <a:p>
                      <a:pPr algn="ctr">
                        <a:defRPr sz="1400" b="1">
                          <a:solidFill>
                            <a:srgbClr val="FFFFFF"/>
                          </a:solidFill>
                        </a:defRPr>
                      </a:pPr>
                      <a:r>
                        <a:t>Ангилал</a:t>
                      </a:r>
                    </a:p>
                  </a:txBody>
                  <a:tcPr>
                    <a:solidFill>
                      <a:srgbClr val="14325A"/>
                    </a:solidFill>
                  </a:tcPr>
                </a:tc>
                <a:tc>
                  <a:txBody>
                    <a:bodyPr/>
                    <a:lstStyle/>
                    <a:p>
                      <a:pPr algn="ctr">
                        <a:defRPr sz="1400" b="1">
                          <a:solidFill>
                            <a:srgbClr val="FFFFFF"/>
                          </a:solidFill>
                        </a:defRPr>
                      </a:pPr>
                      <a:r>
                        <a:t>Орлого (сая ₮)</a:t>
                      </a:r>
                    </a:p>
                  </a:txBody>
                  <a:tcPr>
                    <a:solidFill>
                      <a:srgbClr val="14325A"/>
                    </a:solidFill>
                  </a:tcPr>
                </a:tc>
                <a:tc>
                  <a:txBody>
                    <a:bodyPr/>
                    <a:lstStyle/>
                    <a:p>
                      <a:pPr algn="ctr">
                        <a:defRPr sz="1400" b="1">
                          <a:solidFill>
                            <a:srgbClr val="FFFFFF"/>
                          </a:solidFill>
                        </a:defRPr>
                      </a:pPr>
                      <a:r>
                        <a:t>Дахин авах (%)</a:t>
                      </a:r>
                    </a:p>
                  </a:txBody>
                  <a:tcPr>
                    <a:solidFill>
                      <a:srgbClr val="14325A"/>
                    </a:solidFill>
                  </a:tcPr>
                </a:tc>
                <a:tc>
                  <a:txBody>
                    <a:bodyPr/>
                    <a:lstStyle/>
                    <a:p>
                      <a:pPr algn="ctr">
                        <a:defRPr sz="1400" b="1">
                          <a:solidFill>
                            <a:srgbClr val="FFFFFF"/>
                          </a:solidFill>
                        </a:defRPr>
                      </a:pPr>
                      <a:r>
                        <a:t>Хямдрал (%)</a:t>
                      </a:r>
                    </a:p>
                  </a:txBody>
                  <a:tcPr>
                    <a:solidFill>
                      <a:srgbClr val="14325A"/>
                    </a:solidFill>
                  </a:tcPr>
                </a:tc>
                <a:extLst>
                  <a:ext uri="{0D108BD9-81ED-4DB2-BD59-A6C34878D82A}">
                    <a16:rowId xmlns:a16="http://schemas.microsoft.com/office/drawing/2014/main" val="10000"/>
                  </a:ext>
                </a:extLst>
              </a:tr>
              <a:tr h="381000">
                <a:tc>
                  <a:txBody>
                    <a:bodyPr/>
                    <a:lstStyle/>
                    <a:p>
                      <a:pPr algn="ctr">
                        <a:defRPr sz="1300">
                          <a:solidFill>
                            <a:srgbClr val="3C3C3C"/>
                          </a:solidFill>
                        </a:defRPr>
                      </a:pPr>
                      <a:r>
                        <a:t>ReadyToEat</a:t>
                      </a:r>
                    </a:p>
                  </a:txBody>
                  <a:tcPr>
                    <a:solidFill>
                      <a:srgbClr val="EBF0F5"/>
                    </a:solidFill>
                  </a:tcPr>
                </a:tc>
                <a:tc>
                  <a:txBody>
                    <a:bodyPr/>
                    <a:lstStyle/>
                    <a:p>
                      <a:pPr algn="ctr">
                        <a:defRPr sz="1300">
                          <a:solidFill>
                            <a:srgbClr val="3C3C3C"/>
                          </a:solidFill>
                        </a:defRPr>
                      </a:pPr>
                      <a:r>
                        <a:t>23.9</a:t>
                      </a:r>
                    </a:p>
                  </a:txBody>
                  <a:tcPr>
                    <a:solidFill>
                      <a:srgbClr val="EBF0F5"/>
                    </a:solidFill>
                  </a:tcPr>
                </a:tc>
                <a:tc>
                  <a:txBody>
                    <a:bodyPr/>
                    <a:lstStyle/>
                    <a:p>
                      <a:pPr algn="ctr">
                        <a:defRPr sz="1300">
                          <a:solidFill>
                            <a:srgbClr val="3C3C3C"/>
                          </a:solidFill>
                        </a:defRPr>
                      </a:pPr>
                      <a:r>
                        <a:t>57.4</a:t>
                      </a:r>
                    </a:p>
                  </a:txBody>
                  <a:tcPr>
                    <a:solidFill>
                      <a:srgbClr val="EBF0F5"/>
                    </a:solidFill>
                  </a:tcPr>
                </a:tc>
                <a:tc>
                  <a:txBody>
                    <a:bodyPr/>
                    <a:lstStyle/>
                    <a:p>
                      <a:pPr algn="ctr">
                        <a:defRPr sz="1300">
                          <a:solidFill>
                            <a:srgbClr val="3C3C3C"/>
                          </a:solidFill>
                        </a:defRPr>
                      </a:pPr>
                      <a:r>
                        <a:t>2.3</a:t>
                      </a:r>
                    </a:p>
                  </a:txBody>
                  <a:tcPr>
                    <a:solidFill>
                      <a:srgbClr val="EBF0F5"/>
                    </a:solidFill>
                  </a:tcPr>
                </a:tc>
                <a:extLst>
                  <a:ext uri="{0D108BD9-81ED-4DB2-BD59-A6C34878D82A}">
                    <a16:rowId xmlns:a16="http://schemas.microsoft.com/office/drawing/2014/main" val="10001"/>
                  </a:ext>
                </a:extLst>
              </a:tr>
              <a:tr h="381000">
                <a:tc>
                  <a:txBody>
                    <a:bodyPr/>
                    <a:lstStyle/>
                    <a:p>
                      <a:pPr algn="ctr">
                        <a:defRPr sz="1300">
                          <a:solidFill>
                            <a:srgbClr val="3C3C3C"/>
                          </a:solidFill>
                        </a:defRPr>
                      </a:pPr>
                      <a:r>
                        <a:t>Snacks</a:t>
                      </a:r>
                    </a:p>
                  </a:txBody>
                  <a:tcPr>
                    <a:solidFill>
                      <a:srgbClr val="FFFFFF"/>
                    </a:solidFill>
                  </a:tcPr>
                </a:tc>
                <a:tc>
                  <a:txBody>
                    <a:bodyPr/>
                    <a:lstStyle/>
                    <a:p>
                      <a:pPr algn="ctr">
                        <a:defRPr sz="1300">
                          <a:solidFill>
                            <a:srgbClr val="3C3C3C"/>
                          </a:solidFill>
                        </a:defRPr>
                      </a:pPr>
                      <a:r>
                        <a:t>13.9</a:t>
                      </a:r>
                    </a:p>
                  </a:txBody>
                  <a:tcPr>
                    <a:solidFill>
                      <a:srgbClr val="FFFFFF"/>
                    </a:solidFill>
                  </a:tcPr>
                </a:tc>
                <a:tc>
                  <a:txBody>
                    <a:bodyPr/>
                    <a:lstStyle/>
                    <a:p>
                      <a:pPr algn="ctr">
                        <a:defRPr sz="1300">
                          <a:solidFill>
                            <a:srgbClr val="3C3C3C"/>
                          </a:solidFill>
                        </a:defRPr>
                      </a:pPr>
                      <a:r>
                        <a:t>52.8</a:t>
                      </a:r>
                    </a:p>
                  </a:txBody>
                  <a:tcPr>
                    <a:solidFill>
                      <a:srgbClr val="FFFFFF"/>
                    </a:solidFill>
                  </a:tcPr>
                </a:tc>
                <a:tc>
                  <a:txBody>
                    <a:bodyPr/>
                    <a:lstStyle/>
                    <a:p>
                      <a:pPr algn="ctr">
                        <a:defRPr sz="1300">
                          <a:solidFill>
                            <a:srgbClr val="3C3C3C"/>
                          </a:solidFill>
                        </a:defRPr>
                      </a:pPr>
                      <a:r>
                        <a:t>3.8</a:t>
                      </a:r>
                    </a:p>
                  </a:txBody>
                  <a:tcPr>
                    <a:solidFill>
                      <a:srgbClr val="FFFFFF"/>
                    </a:solidFill>
                  </a:tcPr>
                </a:tc>
                <a:extLst>
                  <a:ext uri="{0D108BD9-81ED-4DB2-BD59-A6C34878D82A}">
                    <a16:rowId xmlns:a16="http://schemas.microsoft.com/office/drawing/2014/main" val="10002"/>
                  </a:ext>
                </a:extLst>
              </a:tr>
              <a:tr h="381000">
                <a:tc>
                  <a:txBody>
                    <a:bodyPr/>
                    <a:lstStyle/>
                    <a:p>
                      <a:pPr algn="ctr">
                        <a:defRPr sz="1300">
                          <a:solidFill>
                            <a:srgbClr val="3C3C3C"/>
                          </a:solidFill>
                        </a:defRPr>
                      </a:pPr>
                      <a:r>
                        <a:t>Dessert</a:t>
                      </a:r>
                    </a:p>
                  </a:txBody>
                  <a:tcPr>
                    <a:solidFill>
                      <a:srgbClr val="EBF0F5"/>
                    </a:solidFill>
                  </a:tcPr>
                </a:tc>
                <a:tc>
                  <a:txBody>
                    <a:bodyPr/>
                    <a:lstStyle/>
                    <a:p>
                      <a:pPr algn="ctr">
                        <a:defRPr sz="1300">
                          <a:solidFill>
                            <a:srgbClr val="3C3C3C"/>
                          </a:solidFill>
                        </a:defRPr>
                      </a:pPr>
                      <a:r>
                        <a:t>11.0</a:t>
                      </a:r>
                    </a:p>
                  </a:txBody>
                  <a:tcPr>
                    <a:solidFill>
                      <a:srgbClr val="EBF0F5"/>
                    </a:solidFill>
                  </a:tcPr>
                </a:tc>
                <a:tc>
                  <a:txBody>
                    <a:bodyPr/>
                    <a:lstStyle/>
                    <a:p>
                      <a:pPr algn="ctr">
                        <a:defRPr sz="1300">
                          <a:solidFill>
                            <a:srgbClr val="3C3C3C"/>
                          </a:solidFill>
                        </a:defRPr>
                      </a:pPr>
                      <a:r>
                        <a:t>61.3</a:t>
                      </a:r>
                    </a:p>
                  </a:txBody>
                  <a:tcPr>
                    <a:solidFill>
                      <a:srgbClr val="EBF0F5"/>
                    </a:solidFill>
                  </a:tcPr>
                </a:tc>
                <a:tc>
                  <a:txBody>
                    <a:bodyPr/>
                    <a:lstStyle/>
                    <a:p>
                      <a:pPr algn="ctr">
                        <a:defRPr sz="1300">
                          <a:solidFill>
                            <a:srgbClr val="3C3C3C"/>
                          </a:solidFill>
                        </a:defRPr>
                      </a:pPr>
                      <a:r>
                        <a:t>3.8</a:t>
                      </a:r>
                    </a:p>
                  </a:txBody>
                  <a:tcPr>
                    <a:solidFill>
                      <a:srgbClr val="EBF0F5"/>
                    </a:solidFill>
                  </a:tcPr>
                </a:tc>
                <a:extLst>
                  <a:ext uri="{0D108BD9-81ED-4DB2-BD59-A6C34878D82A}">
                    <a16:rowId xmlns:a16="http://schemas.microsoft.com/office/drawing/2014/main" val="10003"/>
                  </a:ext>
                </a:extLst>
              </a:tr>
              <a:tr h="381000">
                <a:tc>
                  <a:txBody>
                    <a:bodyPr/>
                    <a:lstStyle/>
                    <a:p>
                      <a:pPr algn="ctr">
                        <a:defRPr sz="1300">
                          <a:solidFill>
                            <a:srgbClr val="3C3C3C"/>
                          </a:solidFill>
                        </a:defRPr>
                      </a:pPr>
                      <a:r>
                        <a:t>Household</a:t>
                      </a:r>
                    </a:p>
                  </a:txBody>
                  <a:tcPr>
                    <a:solidFill>
                      <a:srgbClr val="FFFFFF"/>
                    </a:solidFill>
                  </a:tcPr>
                </a:tc>
                <a:tc>
                  <a:txBody>
                    <a:bodyPr/>
                    <a:lstStyle/>
                    <a:p>
                      <a:pPr algn="ctr">
                        <a:defRPr sz="1300">
                          <a:solidFill>
                            <a:srgbClr val="3C3C3C"/>
                          </a:solidFill>
                        </a:defRPr>
                      </a:pPr>
                      <a:r>
                        <a:t>10.5</a:t>
                      </a:r>
                    </a:p>
                  </a:txBody>
                  <a:tcPr>
                    <a:solidFill>
                      <a:srgbClr val="FFFFFF"/>
                    </a:solidFill>
                  </a:tcPr>
                </a:tc>
                <a:tc>
                  <a:txBody>
                    <a:bodyPr/>
                    <a:lstStyle/>
                    <a:p>
                      <a:pPr algn="ctr">
                        <a:defRPr sz="1300">
                          <a:solidFill>
                            <a:srgbClr val="3C3C3C"/>
                          </a:solidFill>
                        </a:defRPr>
                      </a:pPr>
                      <a:r>
                        <a:t>58.9</a:t>
                      </a:r>
                    </a:p>
                  </a:txBody>
                  <a:tcPr>
                    <a:solidFill>
                      <a:srgbClr val="FFFFFF"/>
                    </a:solidFill>
                  </a:tcPr>
                </a:tc>
                <a:tc>
                  <a:txBody>
                    <a:bodyPr/>
                    <a:lstStyle/>
                    <a:p>
                      <a:pPr algn="ctr">
                        <a:defRPr sz="1300">
                          <a:solidFill>
                            <a:srgbClr val="3C3C3C"/>
                          </a:solidFill>
                        </a:defRPr>
                      </a:pPr>
                      <a:r>
                        <a:t>4.5</a:t>
                      </a:r>
                    </a:p>
                  </a:txBody>
                  <a:tcPr>
                    <a:solidFill>
                      <a:srgbClr val="FFFFFF"/>
                    </a:solidFill>
                  </a:tcPr>
                </a:tc>
                <a:extLst>
                  <a:ext uri="{0D108BD9-81ED-4DB2-BD59-A6C34878D82A}">
                    <a16:rowId xmlns:a16="http://schemas.microsoft.com/office/drawing/2014/main" val="10004"/>
                  </a:ext>
                </a:extLst>
              </a:tr>
              <a:tr h="381000">
                <a:tc>
                  <a:txBody>
                    <a:bodyPr/>
                    <a:lstStyle/>
                    <a:p>
                      <a:pPr algn="ctr">
                        <a:defRPr sz="1300">
                          <a:solidFill>
                            <a:srgbClr val="3C3C3C"/>
                          </a:solidFill>
                        </a:defRPr>
                      </a:pPr>
                      <a:r>
                        <a:t>Beverage</a:t>
                      </a:r>
                    </a:p>
                  </a:txBody>
                  <a:tcPr>
                    <a:solidFill>
                      <a:srgbClr val="EBF0F5"/>
                    </a:solidFill>
                  </a:tcPr>
                </a:tc>
                <a:tc>
                  <a:txBody>
                    <a:bodyPr/>
                    <a:lstStyle/>
                    <a:p>
                      <a:pPr algn="ctr">
                        <a:defRPr sz="1300">
                          <a:solidFill>
                            <a:srgbClr val="3C3C3C"/>
                          </a:solidFill>
                        </a:defRPr>
                      </a:pPr>
                      <a:r>
                        <a:t>9.8</a:t>
                      </a:r>
                    </a:p>
                  </a:txBody>
                  <a:tcPr>
                    <a:solidFill>
                      <a:srgbClr val="EBF0F5"/>
                    </a:solidFill>
                  </a:tcPr>
                </a:tc>
                <a:tc>
                  <a:txBody>
                    <a:bodyPr/>
                    <a:lstStyle/>
                    <a:p>
                      <a:pPr algn="ctr">
                        <a:defRPr sz="1300">
                          <a:solidFill>
                            <a:srgbClr val="3C3C3C"/>
                          </a:solidFill>
                        </a:defRPr>
                      </a:pPr>
                      <a:r>
                        <a:t>54.5</a:t>
                      </a:r>
                    </a:p>
                  </a:txBody>
                  <a:tcPr>
                    <a:solidFill>
                      <a:srgbClr val="EBF0F5"/>
                    </a:solidFill>
                  </a:tcPr>
                </a:tc>
                <a:tc>
                  <a:txBody>
                    <a:bodyPr/>
                    <a:lstStyle/>
                    <a:p>
                      <a:pPr algn="ctr">
                        <a:defRPr sz="1300">
                          <a:solidFill>
                            <a:srgbClr val="3C3C3C"/>
                          </a:solidFill>
                        </a:defRPr>
                      </a:pPr>
                      <a:r>
                        <a:t>5.9</a:t>
                      </a:r>
                    </a:p>
                  </a:txBody>
                  <a:tcPr>
                    <a:solidFill>
                      <a:srgbClr val="EBF0F5"/>
                    </a:solidFill>
                  </a:tcPr>
                </a:tc>
                <a:extLst>
                  <a:ext uri="{0D108BD9-81ED-4DB2-BD59-A6C34878D82A}">
                    <a16:rowId xmlns:a16="http://schemas.microsoft.com/office/drawing/2014/main" val="10005"/>
                  </a:ext>
                </a:extLst>
              </a:tr>
            </a:tbl>
          </a:graphicData>
        </a:graphic>
      </p:graphicFrame>
      <p:pic>
        <p:nvPicPr>
          <p:cNvPr id="6" name="Picture 5" descr="modern_chart2.png"/>
          <p:cNvPicPr>
            <a:picLocks noChangeAspect="1"/>
          </p:cNvPicPr>
          <p:nvPr/>
        </p:nvPicPr>
        <p:blipFill>
          <a:blip r:embed="rId2"/>
          <a:stretch>
            <a:fillRect/>
          </a:stretch>
        </p:blipFill>
        <p:spPr>
          <a:xfrm>
            <a:off x="6217920" y="1371600"/>
            <a:ext cx="5669280" cy="3644537"/>
          </a:xfrm>
          <a:prstGeom prst="rect">
            <a:avLst/>
          </a:prstGeom>
        </p:spPr>
      </p:pic>
      <p:sp>
        <p:nvSpPr>
          <p:cNvPr id="7" name="TextBox 6"/>
          <p:cNvSpPr txBox="1"/>
          <p:nvPr/>
        </p:nvSpPr>
        <p:spPr>
          <a:xfrm>
            <a:off x="457200" y="4572000"/>
            <a:ext cx="10972800" cy="457200"/>
          </a:xfrm>
          <a:prstGeom prst="rect">
            <a:avLst/>
          </a:prstGeom>
          <a:noFill/>
        </p:spPr>
        <p:txBody>
          <a:bodyPr wrap="square">
            <a:spAutoFit/>
          </a:bodyPr>
          <a:lstStyle/>
          <a:p>
            <a:pPr>
              <a:defRPr sz="1600" b="1">
                <a:solidFill>
                  <a:srgbClr val="3C3C3C"/>
                </a:solidFill>
              </a:defRPr>
            </a:pPr>
            <a:r>
              <a:t>Түлхүүр Ололтууд:</a:t>
            </a:r>
          </a:p>
        </p:txBody>
      </p:sp>
      <p:sp>
        <p:nvSpPr>
          <p:cNvPr id="8" name="TextBox 7"/>
          <p:cNvSpPr txBox="1"/>
          <p:nvPr/>
        </p:nvSpPr>
        <p:spPr>
          <a:xfrm>
            <a:off x="457200" y="5029200"/>
            <a:ext cx="10972800" cy="457200"/>
          </a:xfrm>
          <a:prstGeom prst="rect">
            <a:avLst/>
          </a:prstGeom>
          <a:noFill/>
        </p:spPr>
        <p:txBody>
          <a:bodyPr wrap="square">
            <a:spAutoFit/>
          </a:bodyPr>
          <a:lstStyle/>
          <a:p>
            <a:pPr>
              <a:defRPr sz="1800" b="0">
                <a:solidFill>
                  <a:srgbClr val="3C3C3C"/>
                </a:solidFill>
              </a:defRPr>
            </a:pPr>
            <a:r>
              <a:t>• Ready-to-Eat: Орлогоор тэргүүлдэг ч дахин худалдан авах магадлал сул (57.4%).</a:t>
            </a:r>
          </a:p>
          <a:p>
            <a:r>
              <a:t>• Dessert (Нуугдмал боломж): Орлого дундаж боловч сэтгэл ханамж хамгийн өндөр (61.3%).</a:t>
            </a:r>
          </a:p>
          <a:p>
            <a:r>
              <a:t>• Beverage: Орлого болон чанарын оноо хамгийн бага байна.</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0"/>
          </a:xfrm>
          <a:prstGeom prst="rect">
            <a:avLst/>
          </a:prstGeom>
          <a:solidFill>
            <a:srgbClr val="1432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97280"/>
            <a:ext cx="12191695" cy="73152"/>
          </a:xfrm>
          <a:prstGeom prst="rect">
            <a:avLst/>
          </a:prstGeom>
          <a:solidFill>
            <a:srgbClr val="0096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82880"/>
            <a:ext cx="11277295" cy="731520"/>
          </a:xfrm>
          <a:prstGeom prst="rect">
            <a:avLst/>
          </a:prstGeom>
          <a:noFill/>
        </p:spPr>
        <p:txBody>
          <a:bodyPr wrap="square">
            <a:spAutoFit/>
          </a:bodyPr>
          <a:lstStyle/>
          <a:p>
            <a:pPr algn="l">
              <a:defRPr sz="3200" b="1">
                <a:solidFill>
                  <a:srgbClr val="FFFFFF"/>
                </a:solidFill>
              </a:defRPr>
            </a:pPr>
            <a:r>
              <a:t>Стратегийн Санал Зөвлөмжүүд</a:t>
            </a:r>
          </a:p>
        </p:txBody>
      </p:sp>
      <p:sp>
        <p:nvSpPr>
          <p:cNvPr id="5" name="Oval 4"/>
          <p:cNvSpPr/>
          <p:nvPr/>
        </p:nvSpPr>
        <p:spPr>
          <a:xfrm>
            <a:off x="457200" y="1371600"/>
            <a:ext cx="731520" cy="731520"/>
          </a:xfrm>
          <a:prstGeom prst="ellipse">
            <a:avLst/>
          </a:prstGeom>
          <a:solidFill>
            <a:srgbClr val="0096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800" b="1"/>
            </a:pPr>
            <a:r>
              <a:t>1</a:t>
            </a:r>
          </a:p>
        </p:txBody>
      </p:sp>
      <p:sp>
        <p:nvSpPr>
          <p:cNvPr id="6" name="TextBox 5"/>
          <p:cNvSpPr txBox="1"/>
          <p:nvPr/>
        </p:nvSpPr>
        <p:spPr>
          <a:xfrm>
            <a:off x="1371600" y="1371600"/>
            <a:ext cx="10846431" cy="1138773"/>
          </a:xfrm>
          <a:prstGeom prst="rect">
            <a:avLst/>
          </a:prstGeom>
          <a:noFill/>
        </p:spPr>
        <p:txBody>
          <a:bodyPr wrap="none">
            <a:spAutoFit/>
          </a:bodyPr>
          <a:lstStyle/>
          <a:p>
            <a:pPr algn="just">
              <a:defRPr sz="2000" b="1">
                <a:solidFill>
                  <a:srgbClr val="14325A"/>
                </a:solidFill>
              </a:defRPr>
            </a:pPr>
            <a:r>
              <a:rPr lang="mn-MN" sz="2000" b="1" dirty="0"/>
              <a:t>Зорилтот сегменттэй ажиллах</a:t>
            </a:r>
            <a:br>
              <a:rPr lang="mn-MN" sz="2000" b="1" dirty="0"/>
            </a:br>
            <a:r>
              <a:rPr lang="mn-MN" sz="1600" b="1" dirty="0"/>
              <a:t>Манай гол орлогыг бүрдүүлж байгаа “</a:t>
            </a:r>
            <a:r>
              <a:rPr lang="en-US" sz="1600" b="1" dirty="0"/>
              <a:t>Student value seeker” </a:t>
            </a:r>
            <a:r>
              <a:rPr lang="mn-MN" sz="1600" b="1" dirty="0"/>
              <a:t>хэрэглэгчдэд илүү анхаарах хэрэгтэй. Тэд үнэ мэдрэмтгий ч </a:t>
            </a:r>
            <a:endParaRPr lang="en-US" sz="1600" b="1" dirty="0"/>
          </a:p>
          <a:p>
            <a:pPr algn="just">
              <a:defRPr sz="2000" b="1">
                <a:solidFill>
                  <a:srgbClr val="14325A"/>
                </a:solidFill>
              </a:defRPr>
            </a:pPr>
            <a:r>
              <a:rPr lang="mn-MN" sz="1600" b="1" dirty="0"/>
              <a:t>тогтмол худалдан авалт хийдэг тул зөв урамшуулал, лоялти хөтөлбөрөөр барьж чадвал урт хугацаанд хамгийн үнэ </a:t>
            </a:r>
            <a:endParaRPr lang="en-US" sz="1600" b="1" dirty="0"/>
          </a:p>
          <a:p>
            <a:pPr algn="just">
              <a:defRPr sz="2000" b="1">
                <a:solidFill>
                  <a:srgbClr val="14325A"/>
                </a:solidFill>
              </a:defRPr>
            </a:pPr>
            <a:r>
              <a:rPr lang="mn-MN" sz="1600" b="1" dirty="0"/>
              <a:t>цэнтэй сегмент болно. Тэдэнд тохирсон хямд, багц санал гаргах нь илүү үр дүнтэй.</a:t>
            </a:r>
            <a:endParaRPr sz="1600" dirty="0"/>
          </a:p>
        </p:txBody>
      </p:sp>
      <p:sp>
        <p:nvSpPr>
          <p:cNvPr id="7" name="Oval 6"/>
          <p:cNvSpPr/>
          <p:nvPr/>
        </p:nvSpPr>
        <p:spPr>
          <a:xfrm>
            <a:off x="457200" y="2743200"/>
            <a:ext cx="731520" cy="731520"/>
          </a:xfrm>
          <a:prstGeom prst="ellipse">
            <a:avLst/>
          </a:prstGeom>
          <a:solidFill>
            <a:srgbClr val="0096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800" b="1"/>
            </a:pPr>
            <a:r>
              <a:t>2</a:t>
            </a:r>
          </a:p>
        </p:txBody>
      </p:sp>
      <p:sp>
        <p:nvSpPr>
          <p:cNvPr id="8" name="TextBox 7"/>
          <p:cNvSpPr txBox="1"/>
          <p:nvPr/>
        </p:nvSpPr>
        <p:spPr>
          <a:xfrm>
            <a:off x="1371600" y="2743200"/>
            <a:ext cx="10703571" cy="1138773"/>
          </a:xfrm>
          <a:prstGeom prst="rect">
            <a:avLst/>
          </a:prstGeom>
          <a:noFill/>
        </p:spPr>
        <p:txBody>
          <a:bodyPr wrap="none">
            <a:spAutoFit/>
          </a:bodyPr>
          <a:lstStyle/>
          <a:p>
            <a:pPr>
              <a:defRPr sz="2000" b="1">
                <a:solidFill>
                  <a:srgbClr val="14325A"/>
                </a:solidFill>
              </a:defRPr>
            </a:pPr>
            <a:r>
              <a:rPr dirty="0" err="1"/>
              <a:t>Чанар</a:t>
            </a:r>
            <a:r>
              <a:rPr dirty="0"/>
              <a:t> </a:t>
            </a:r>
            <a:r>
              <a:rPr dirty="0" err="1"/>
              <a:t>ба</a:t>
            </a:r>
            <a:r>
              <a:rPr dirty="0"/>
              <a:t> </a:t>
            </a:r>
            <a:r>
              <a:rPr dirty="0" err="1"/>
              <a:t>Сэтгэл</a:t>
            </a:r>
            <a:r>
              <a:rPr dirty="0"/>
              <a:t> </a:t>
            </a:r>
            <a:r>
              <a:rPr dirty="0" err="1"/>
              <a:t>ханамжийн</a:t>
            </a:r>
            <a:r>
              <a:rPr dirty="0"/>
              <a:t> </a:t>
            </a:r>
            <a:r>
              <a:rPr dirty="0" err="1"/>
              <a:t>зөрүүг</a:t>
            </a:r>
            <a:r>
              <a:rPr dirty="0"/>
              <a:t> </a:t>
            </a:r>
            <a:r>
              <a:rPr dirty="0" err="1"/>
              <a:t>арилгах</a:t>
            </a:r>
            <a:endParaRPr dirty="0"/>
          </a:p>
          <a:p>
            <a:pPr>
              <a:defRPr sz="1600">
                <a:solidFill>
                  <a:srgbClr val="3C3C3C"/>
                </a:solidFill>
              </a:defRPr>
            </a:pPr>
            <a:r>
              <a:rPr lang="en-US" sz="1600" dirty="0"/>
              <a:t>“Ready-to-Eat” </a:t>
            </a:r>
            <a:r>
              <a:rPr lang="mn-MN" sz="1600" dirty="0"/>
              <a:t>бүтээгдэхүүнүүд сайн зарагдаж байгаа ч хэрэглэгчид төдийлөн сэтгэл хангалуун биш байна. Энэ нь чанар, </a:t>
            </a:r>
            <a:endParaRPr lang="en-US" sz="1600" dirty="0"/>
          </a:p>
          <a:p>
            <a:pPr>
              <a:defRPr sz="1600">
                <a:solidFill>
                  <a:srgbClr val="3C3C3C"/>
                </a:solidFill>
              </a:defRPr>
            </a:pPr>
            <a:r>
              <a:rPr lang="mn-MN" sz="1600" dirty="0"/>
              <a:t>шинэлэг байдлыг сайжруулах шаардлагатайг харуулж байна</a:t>
            </a:r>
            <a:r>
              <a:rPr lang="en-US" sz="1600" dirty="0"/>
              <a:t>. </a:t>
            </a:r>
            <a:r>
              <a:rPr lang="mn-MN" sz="1600" dirty="0"/>
              <a:t> Харин “</a:t>
            </a:r>
            <a:r>
              <a:rPr lang="en-US" sz="1600" dirty="0"/>
              <a:t>Dessert” </a:t>
            </a:r>
            <a:r>
              <a:rPr lang="mn-MN" sz="1600" dirty="0"/>
              <a:t>дээр хүмүүс сэтгэл ханамж өндөртэй </a:t>
            </a:r>
            <a:endParaRPr lang="en-US" sz="1600" dirty="0"/>
          </a:p>
          <a:p>
            <a:pPr>
              <a:defRPr sz="1600">
                <a:solidFill>
                  <a:srgbClr val="3C3C3C"/>
                </a:solidFill>
              </a:defRPr>
            </a:pPr>
            <a:r>
              <a:rPr lang="mn-MN" sz="1600" dirty="0"/>
              <a:t>байгаа тул үүнийг илүү идэвхжүүлбэл борлуулалт нэмэгдэх боломжтой.</a:t>
            </a:r>
            <a:endParaRPr dirty="0"/>
          </a:p>
        </p:txBody>
      </p:sp>
      <p:sp>
        <p:nvSpPr>
          <p:cNvPr id="9" name="Oval 8"/>
          <p:cNvSpPr/>
          <p:nvPr/>
        </p:nvSpPr>
        <p:spPr>
          <a:xfrm>
            <a:off x="457200" y="4114800"/>
            <a:ext cx="731520" cy="731520"/>
          </a:xfrm>
          <a:prstGeom prst="ellipse">
            <a:avLst/>
          </a:prstGeom>
          <a:solidFill>
            <a:srgbClr val="0096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800" b="1"/>
            </a:pPr>
            <a:r>
              <a:t>3</a:t>
            </a:r>
          </a:p>
        </p:txBody>
      </p:sp>
      <p:sp>
        <p:nvSpPr>
          <p:cNvPr id="10" name="TextBox 9"/>
          <p:cNvSpPr txBox="1"/>
          <p:nvPr/>
        </p:nvSpPr>
        <p:spPr>
          <a:xfrm>
            <a:off x="1371600" y="4114800"/>
            <a:ext cx="9717725" cy="1138773"/>
          </a:xfrm>
          <a:prstGeom prst="rect">
            <a:avLst/>
          </a:prstGeom>
          <a:noFill/>
        </p:spPr>
        <p:txBody>
          <a:bodyPr wrap="none">
            <a:spAutoFit/>
          </a:bodyPr>
          <a:lstStyle/>
          <a:p>
            <a:pPr>
              <a:defRPr sz="2000" b="1">
                <a:solidFill>
                  <a:srgbClr val="14325A"/>
                </a:solidFill>
              </a:defRPr>
            </a:pPr>
            <a:r>
              <a:rPr dirty="0" err="1"/>
              <a:t>Хямдралын</a:t>
            </a:r>
            <a:r>
              <a:rPr dirty="0"/>
              <a:t> </a:t>
            </a:r>
            <a:r>
              <a:rPr dirty="0" err="1"/>
              <a:t>бодлогыг</a:t>
            </a:r>
            <a:r>
              <a:rPr dirty="0"/>
              <a:t> </a:t>
            </a:r>
            <a:r>
              <a:rPr dirty="0" err="1"/>
              <a:t>оновчлох</a:t>
            </a:r>
            <a:endParaRPr dirty="0"/>
          </a:p>
          <a:p>
            <a:pPr>
              <a:defRPr sz="1600">
                <a:solidFill>
                  <a:srgbClr val="3C3C3C"/>
                </a:solidFill>
              </a:defRPr>
            </a:pPr>
            <a:r>
              <a:rPr lang="en-US" sz="1600" dirty="0"/>
              <a:t>“Beverage” </a:t>
            </a:r>
            <a:r>
              <a:rPr lang="mn-MN" sz="1600" dirty="0"/>
              <a:t>дээр хэт их хямдрал өгч байгаа ч үр дүн нь сайн биш байна. Үүний оронд ухаалгаар багц санал </a:t>
            </a:r>
            <a:endParaRPr lang="en-US" sz="1600" dirty="0"/>
          </a:p>
          <a:p>
            <a:pPr>
              <a:defRPr sz="1600">
                <a:solidFill>
                  <a:srgbClr val="3C3C3C"/>
                </a:solidFill>
              </a:defRPr>
            </a:pPr>
            <a:r>
              <a:rPr lang="mn-MN" sz="1600" dirty="0"/>
              <a:t>(жишээ нь хоол + ундаа) гаргавал илүү ашигтай. Мөн сайн зарагдаж байгаа бүтээгдэхүүн дээр хэт их хямдрал </a:t>
            </a:r>
            <a:endParaRPr lang="en-US" sz="1600" dirty="0"/>
          </a:p>
          <a:p>
            <a:pPr>
              <a:defRPr sz="1600">
                <a:solidFill>
                  <a:srgbClr val="3C3C3C"/>
                </a:solidFill>
              </a:defRPr>
            </a:pPr>
            <a:r>
              <a:rPr lang="mn-MN" sz="1600" dirty="0"/>
              <a:t>өгөх шаардлагагүй.</a:t>
            </a:r>
            <a:endParaRPr dirty="0"/>
          </a:p>
        </p:txBody>
      </p:sp>
      <p:sp>
        <p:nvSpPr>
          <p:cNvPr id="11" name="Oval 10"/>
          <p:cNvSpPr/>
          <p:nvPr/>
        </p:nvSpPr>
        <p:spPr>
          <a:xfrm>
            <a:off x="457200" y="5486400"/>
            <a:ext cx="731520" cy="731520"/>
          </a:xfrm>
          <a:prstGeom prst="ellipse">
            <a:avLst/>
          </a:prstGeom>
          <a:solidFill>
            <a:srgbClr val="0096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800" b="1"/>
            </a:pPr>
            <a:r>
              <a:t>4</a:t>
            </a:r>
          </a:p>
        </p:txBody>
      </p:sp>
      <p:sp>
        <p:nvSpPr>
          <p:cNvPr id="12" name="TextBox 11"/>
          <p:cNvSpPr txBox="1"/>
          <p:nvPr/>
        </p:nvSpPr>
        <p:spPr>
          <a:xfrm>
            <a:off x="1371600" y="5486400"/>
            <a:ext cx="10404258" cy="892552"/>
          </a:xfrm>
          <a:prstGeom prst="rect">
            <a:avLst/>
          </a:prstGeom>
          <a:noFill/>
        </p:spPr>
        <p:txBody>
          <a:bodyPr wrap="none">
            <a:spAutoFit/>
          </a:bodyPr>
          <a:lstStyle/>
          <a:p>
            <a:pPr>
              <a:defRPr sz="2000" b="1">
                <a:solidFill>
                  <a:srgbClr val="14325A"/>
                </a:solidFill>
              </a:defRPr>
            </a:pPr>
            <a:r>
              <a:rPr dirty="0" err="1"/>
              <a:t>Үйл</a:t>
            </a:r>
            <a:r>
              <a:rPr dirty="0"/>
              <a:t> </a:t>
            </a:r>
            <a:r>
              <a:rPr dirty="0" err="1"/>
              <a:t>ажиллагааг</a:t>
            </a:r>
            <a:r>
              <a:rPr dirty="0"/>
              <a:t> </a:t>
            </a:r>
            <a:r>
              <a:rPr dirty="0" err="1"/>
              <a:t>сайжруулах</a:t>
            </a:r>
            <a:endParaRPr dirty="0"/>
          </a:p>
          <a:p>
            <a:pPr>
              <a:defRPr sz="1600">
                <a:solidFill>
                  <a:srgbClr val="3C3C3C"/>
                </a:solidFill>
              </a:defRPr>
            </a:pPr>
            <a:r>
              <a:rPr lang="mn-MN" sz="1600" dirty="0"/>
              <a:t>Салбар бүрийн чанар жигд биш байгаа нь хэрэглэгчийн туршлагад нөлөөлж байна. Үүнийг стандартчилах, сав баглаа </a:t>
            </a:r>
            <a:endParaRPr lang="en-US" sz="1600" dirty="0"/>
          </a:p>
          <a:p>
            <a:pPr>
              <a:defRPr sz="1600">
                <a:solidFill>
                  <a:srgbClr val="3C3C3C"/>
                </a:solidFill>
              </a:defRPr>
            </a:pPr>
            <a:r>
              <a:rPr lang="mn-MN" sz="1600" dirty="0"/>
              <a:t>болон процессоо сайжруулах хэрэгтэй. Ингэснээр алдаа багасч, хэрэглэгчид илүү итгэлтэй болно.</a:t>
            </a:r>
            <a:r>
              <a:rPr dirty="0"/>
              <a: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39</TotalTime>
  <Words>514</Words>
  <Application>Microsoft Office PowerPoint</Application>
  <PresentationFormat>Widescreen</PresentationFormat>
  <Paragraphs>87</Paragraphs>
  <Slides>5</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
  <cp:keywords/>
  <dc:description>generated using python-pptx</dc:description>
  <cp:lastModifiedBy>Anudari Tserennadmid</cp:lastModifiedBy>
  <cp:revision>8</cp:revision>
  <dcterms:created xsi:type="dcterms:W3CDTF">2013-01-27T09:14:16Z</dcterms:created>
  <dcterms:modified xsi:type="dcterms:W3CDTF">2026-03-29T16:38:01Z</dcterms:modified>
  <cp:category/>
</cp:coreProperties>
</file>