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Орлого (сая ₮)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1-р сар</c:v>
                </c:pt>
                <c:pt idx="1">
                  <c:v>2-р сар</c:v>
                </c:pt>
                <c:pt idx="2">
                  <c:v>3-р сар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23.41</c:v>
                </c:pt>
                <c:pt idx="1">
                  <c:v>21.63</c:v>
                </c:pt>
                <c:pt idx="2">
                  <c:v>24.15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5-4A5F-B761-348FFDE4BB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Family stock-up</c:v>
                </c:pt>
                <c:pt idx="1">
                  <c:v>Healthy routine</c:v>
                </c:pt>
                <c:pt idx="2">
                  <c:v>Lunch office</c:v>
                </c:pt>
                <c:pt idx="3">
                  <c:v>Morning commuter</c:v>
                </c:pt>
                <c:pt idx="4">
                  <c:v>Student value seeker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</c:v>
                </c:pt>
                <c:pt idx="1">
                  <c:v>15.7</c:v>
                </c:pt>
                <c:pt idx="2">
                  <c:v>21</c:v>
                </c:pt>
                <c:pt idx="3">
                  <c:v>24</c:v>
                </c:pt>
                <c:pt idx="4">
                  <c:v>27.8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F8-46FA-9028-79C77B4999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(сая ₮)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Beverage</c:v>
                </c:pt>
                <c:pt idx="1">
                  <c:v>Household</c:v>
                </c:pt>
                <c:pt idx="2">
                  <c:v>Dessert</c:v>
                </c:pt>
                <c:pt idx="3">
                  <c:v>Snacks</c:v>
                </c:pt>
                <c:pt idx="4">
                  <c:v>ReadyToEat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9.84</c:v>
                </c:pt>
                <c:pt idx="1">
                  <c:v>10.54</c:v>
                </c:pt>
                <c:pt idx="2">
                  <c:v>11.01</c:v>
                </c:pt>
                <c:pt idx="3">
                  <c:v>13.86</c:v>
                </c:pt>
                <c:pt idx="4">
                  <c:v>23.94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0-4ECD-BC3F-58E38392BB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rate (%)</c:v>
                </c:pt>
              </c:strCache>
            </c:strRef>
          </c:tx>
          <c:spPr>
            <a:solidFill>
              <a:srgbClr val="C96A3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Pasta Box</c:v>
                </c:pt>
                <c:pt idx="1">
                  <c:v>Cheesecake</c:v>
                </c:pt>
                <c:pt idx="2">
                  <c:v>Beef Onigiri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28.4</c:v>
                </c:pt>
                <c:pt idx="1">
                  <c:v>30.8</c:v>
                </c:pt>
                <c:pt idx="2">
                  <c:v>39.200000000000003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F-4837-954B-9639B37F5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Quality</c:v>
                </c:pt>
                <c:pt idx="1">
                  <c:v>Visual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7.17</c:v>
                </c:pt>
                <c:pt idx="1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87-4155-9962-C65AC1B654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C7CD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Quality</c:v>
                </c:pt>
                <c:pt idx="1">
                  <c:v>Visual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5.99</c:v>
                </c:pt>
                <c:pt idx="1">
                  <c:v>6.31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87-4155-9962-C65AC1B654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1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61D7-8891-10B9-29C0-69C06017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5728B-9D8C-46B7-9A77-7705DE2BA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E1C60-9967-CCA9-8718-F73567DBB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16D59-9D2B-CF5C-3258-F180EA69B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98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E17B-3922-D0D9-9EF3-93B1EA732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E25BC-5F5D-4FCC-1D52-0D7D5B8B1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5ADF-9204-54E6-DB56-646015D1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DC7E-0723-F421-5BFA-0CC6748F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24D56-1301-B940-64FC-6DE89BCE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887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2B77-B64E-206E-17C2-7DD7460C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537A1-0956-6202-A2D0-0CC231858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BE807-7C0E-ACA3-61E1-CAFBFEBD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8E980-2D8E-DCF4-B1C8-4EAE9693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A6EFF-A830-C200-F643-CC734298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130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70D6-78EA-CDDD-2EEA-A5A1AF9D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EF69D-5679-9B4C-D49D-DBC6E1B77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C1CF-63F5-EB6E-17E8-064C0930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E0CE-2EE6-F2C9-DB6C-095193E0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05DCF-FA42-4DA2-E406-2B70C225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23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45FE-969B-06A0-8EAB-B493EFBD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115AB-BCAE-9101-41A5-E07C36BF1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55A59-A87F-A3CD-0C7B-F64CA5E64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DAEB8-08B7-D1E7-C169-D604CAB5D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1641D-11E8-07BA-0DDD-12A3B9AF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B5697-4F98-7E20-9E07-AD2708F9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254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90AC-B969-55A6-A78E-97CC643A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610F4-67F3-2F28-BFD0-3D025B31E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D90-3682-9F47-A02B-0C46EBF0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6FD01-65AE-6EE8-588D-1CEA436C3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286C3-3BF8-089E-E549-C1A92EEEC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4B5E3-39EF-9A52-63FF-69D0818A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635D1-351A-05FC-56D4-69BE3239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7A1E4-647D-B383-DFDC-EBDE987B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350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F593-D021-EFF7-DB12-403079A0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7E445-8CCA-0B81-2F08-80ED5E9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69E80-2CEB-1C93-8048-E176FBD5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C8EE8-1416-BDF3-747F-D3A9B359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441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85D75-AC37-D72F-4C08-06926FDA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F110D-43C9-817F-0741-457ED0D5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4F02-5464-1A57-9542-4DD1A86C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370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4014-673B-889E-7D02-7520B1AC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2CAF-7141-9D87-A475-3B5D4DC3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64603-8311-5F0F-8D9F-2C72E3159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12732-30E2-5039-1F8A-75D908C8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CE4D7-5553-85CE-67BD-51CAF890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50BD4-D253-363E-06D0-A51378F7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02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7680-EB41-68A9-204F-D680C517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1EED7-8E5D-A6D7-721E-94563D70A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C62C8-EF2B-64DA-BB5E-4F21270C1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52E40-C4C3-A5FB-EB16-857624C9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08AF-311C-5FE9-CB70-6A306C20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F8328-1BF3-11C4-D772-BE36ADFC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F6F1-88A7-81F7-D189-DE7C96D1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B9DFF-63B5-4D5B-7358-E6A54A4CB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42019-6C66-6277-2C7E-88A4CD9E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EA807-42ED-7698-04B0-CF8087D5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D81E7-FD2C-A88B-5F5E-4EAF2829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605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4E03E-F385-4832-9997-E3DF3B26B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01CD8-053A-D0C7-38DD-DDC5A97E8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6DB3-34F1-BCC5-7238-9593D14A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CE9EF-305D-708C-7B1B-7373B79C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767F-633E-8861-98B3-69F5B24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688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19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FCEAF-9FE1-0D46-CC9F-CE2C3071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88C11-D381-6295-24A4-A6DF5CA21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1866F-37C8-873A-5799-3830906DB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E2A1-B219-412C-A5DE-82566EB3877A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28380-738E-8D2E-B077-0A936E6BB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7183-BD18-9548-E710-65630BF04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7B2B-ACCC-4B78-9C7A-ABE24ACDA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5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96DB-D84C-3626-1992-3D5A2758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4AC6AF-33FF-3D6B-39D9-B4ED0917CD18}"/>
              </a:ext>
            </a:extLst>
          </p:cNvPr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2C3E6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7B0402-4DE4-518E-91F1-082B2183870E}"/>
              </a:ext>
            </a:extLst>
          </p:cNvPr>
          <p:cNvSpPr/>
          <p:nvPr/>
        </p:nvSpPr>
        <p:spPr>
          <a:xfrm>
            <a:off x="822960" y="196596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ӨГӨГДЛИЙН ШИНЖИЛГЭЭНИЙ ДААЛГАВАР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3D246E-1099-1F77-12D0-A37B74B9F75C}"/>
              </a:ext>
            </a:extLst>
          </p:cNvPr>
          <p:cNvSpPr/>
          <p:nvPr/>
        </p:nvSpPr>
        <p:spPr>
          <a:xfrm>
            <a:off x="822960" y="2377440"/>
            <a:ext cx="105457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Борлуулалт ба хэрэглэгчийн</a:t>
            </a:r>
            <a:endParaRPr lang="en-US" sz="4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зан төлөвийн шинжилгээ</a:t>
            </a:r>
            <a:endParaRPr lang="en-US" sz="4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A01F67-2F6C-FD7F-1272-3E9EA380FAE2}"/>
              </a:ext>
            </a:extLst>
          </p:cNvPr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Түлхүүр insight ба бизнесийн санал зөвлөмж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4DCAAD-B491-61E1-3AB5-14ECCC02314F}"/>
              </a:ext>
            </a:extLst>
          </p:cNvPr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оны 1–3 сарын борлуулалт, хэрэглэгч, inventory болон санал асуулгын өгөгдөлд үндэслэв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98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Гүйцэтгэх хураангуй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 гурван сарын борлуулалтын өгөгдлийн үндсэн үзүүлэлтүүд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5400000" algn="bl" rotWithShape="0">
              <a:srgbClr val="AAB4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69.19 сая 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0604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5400000" algn="bl" rotWithShape="0">
              <a:srgbClr val="AAB4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5,129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02152" y="2258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 Transactions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417320"/>
            <a:ext cx="260604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5400000" algn="bl" rotWithShape="0">
              <a:srgbClr val="AAB4C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13,491 ₮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64224" y="2258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417320"/>
            <a:ext cx="260604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63500" dist="25400" dir="5400000" algn="bl" rotWithShape="0">
              <a:srgbClr val="AAB4C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26296" y="2258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ReadyToEat Revenue Share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 дүгнэлтүүд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621024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9300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Орлогын өөрчлөлт нь голчлон гүйлгээний тооны өөрчлөлтөөс шалтгаалсан.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187952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5993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ReadyToEat нь орлогын хувьд хамгийн хүчтэй ангилал юм.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26864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хэрэглэгчид дахин худалдан авалтын тогтмол зан төлөв харуулж байна.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321808"/>
            <a:ext cx="128016" cy="1280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93792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Зарим өндөр орлоготой бүтээгдэхүүнд нөөцийн дарамт (LOW/OOS) ажиглагдаж байна.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Борлуулалтын гүйцэтгэл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 бүрийн орлого, гүйлгээний тоо ба дундаж сагсны өөрчлөлт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6675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160520" cy="3749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Сарын өөрчлөлт (өмнөх сартай харьцуулахад)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0" y="2011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2-р сар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509760" y="23957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-7.6%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509760" y="26883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-10.4%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0" y="2980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basket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509760" y="29809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32461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3-р сар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509760" y="3630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0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39227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+14.5%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0" y="4215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basket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509760" y="4215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-2.5%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5532120"/>
            <a:ext cx="11185855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55321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Орлогын өөрчлөлтийг гүйлгээний тоо голлон тайлбарлаж байна.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Хэрэглэгчийн зан төлөв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customer-үүдийн сегмент бүрийн орлогын хувь хэмжээ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6675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value seeker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 identified-customer орлогын хамгийн том хувийг эзэлж байна (27.8%).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498080" y="1417320"/>
            <a:ext cx="416052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1490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052560" y="1417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68880"/>
            <a:ext cx="416052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25420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052560" y="2468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3520440"/>
            <a:ext cx="416052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35935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052560" y="3520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Дундаж transactions / customer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98080" y="4709160"/>
            <a:ext cx="4160520" cy="868680"/>
          </a:xfrm>
          <a:prstGeom prst="rect">
            <a:avLst/>
          </a:prstGeom>
          <a:solidFill>
            <a:srgbClr val="FBF0E8"/>
          </a:solidFill>
          <a:ln/>
        </p:spPr>
      </p:sp>
      <p:sp>
        <p:nvSpPr>
          <p:cNvPr id="16" name="Text 13"/>
          <p:cNvSpPr/>
          <p:nvPr/>
        </p:nvSpPr>
        <p:spPr>
          <a:xfrm>
            <a:off x="7699248" y="4709160"/>
            <a:ext cx="3758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 гүйлгээнд customer_id байхгүй тул эдгээрийг customer-level шинжилгээнд оруулаагүй.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Бүтээгдэхүүн ба ангиллын гүйцэтгэл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Ангиллын орлого ба борлуулалтын хэмжээний харьцуулалт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6675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548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ReadyToEat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 23.94 сая ₮ буюу нийт орлогын 34.6%-ийг бүрдүүлж, хамгийн хүчтэй ангилал болж байна.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98080" y="13716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Ширхэг ба орлогын харьцуулалт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98080" y="1783080"/>
            <a:ext cx="4160520" cy="1234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9110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 500ml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951 нэгж   →   </a:t>
            </a: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 сая ₮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3154680"/>
            <a:ext cx="4160520" cy="1234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32826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 Box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3703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 нэгж   →   </a:t>
            </a: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 сая 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486400"/>
            <a:ext cx="11185855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48640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ширхэгээр борлуулсан бүтээгдэхүүн заавал хамгийн өндөр орлого үүсгэдэггүй.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Inventory-ийн эрсдэлийн тэргүүлэх бүтээгдэхүүн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Өндөр орлоготой бүтээгдэхүүн дэх LOW ба OOS түвшин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73152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Бүтээгдэхүүн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 Box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 сая 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Cheesecake Slice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 сая 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Beef Onigiri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 сая 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554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rate харьцуулалт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0" y="1920240"/>
          <a:ext cx="34290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3"/>
          <p:cNvSpPr/>
          <p:nvPr/>
        </p:nvSpPr>
        <p:spPr>
          <a:xfrm>
            <a:off x="502920" y="4160520"/>
            <a:ext cx="11185855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41605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Өндөр revenue + inventory pressure = тэргүүлэх хяналтын бүтээгдэхүүн.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48463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Тайлбар: OOS-оос үүссэн lost sales-ийг шууд тооцоолоогүй.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Хэрэглэгчийн санал хүсэлт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Survey-ийн үр дүн: чанар, дүр төрх, дахин худалдан авах хүсэл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4884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 / 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Дундаж Quality score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214884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/ 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20391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Дундаж Visual score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2148840" cy="10515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20391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buy again = Yes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Дахин худалдан авах хүсэлтээр ангилсан онооны харьцуулалт</a:t>
            </a:r>
            <a:endParaRPr lang="en-US" sz="12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02920" y="3108960"/>
          <a:ext cx="6675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7498080" y="1417320"/>
            <a:ext cx="4160520" cy="2743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Чанарын оноо доогуур бүтээгдэхүүн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0" y="2103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Iced Coffee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469880" y="2103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6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0" y="27249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Bar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469880" y="2724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6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6.39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2400" y="334670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Sandwich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469880" y="33467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6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6.47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7220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Дахин худалдан авах хүсэлттэй бүлгүүдэд чанарын онооны ялгаа илүү тод байна.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Стратегийн санал зөвлөмж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Шинжилгээнд суурилсан үйл ажиллагааны 4 чиглэл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331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27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C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581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Нөөцийн хяналт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Box, Cheesecake Slice, Beef Onigiri зэрэг өндөр revenue бүтээгдэхүүнд LOW/OOS давтамж харьцангуй өндөр.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ажиллагаа: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Эдгээр бүтээгдэхүүний нөөцийн түвшинг тэргүүлэн хянах.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үр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Бүтээгдэхүүний хүртээмжийг хамгаалж, inventory-ийн эрсдэлийг бууруулна.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440680" cy="2331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27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C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581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Хэрэглэгч хадгалалт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0391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commuter, Healthy routine сегментүүд өндөр давтамж, өндөр revenue per customer үзүүлэлттэй.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ажиллагаа: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Эдгээр сегментийг чиглэсэн хадгалалтын арга хэмжээг бэхжүүлэх.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317296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үр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Дахин худалдан авалтын зан төлөвийг хадгалж, customer value-г нэмэгдүүлнэ.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5440680" cy="2331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C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Бүтээгдэхүүний чанар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69087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Iced Coffee, Protein Bar, Chicken Sandwich зэрэг бүтээгдэхүүн харьцангуй бага quality score-той.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ажиллагаа: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Эдгээр бүтээгдэхүүний чанарыг судалж, сайжруулах.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8247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үр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Хэрэглэгчийн туршлагыг сайжруулж, дахин худалдан авах хүсэлд эерэгээр нөлөөлж болзошгүй.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5440680" cy="2331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C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mix optimization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69087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ReadyToEat орлогын 34.6%-ийг эзэлдэг бол Beverage хамгийн их ширхэгтэй ч орлогын хувь нь 14.2%.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5303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Үйл ажиллагаа: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ReadyToEat-ийн хүртээмжийг хамгаалж, Beverage-т cross-sell/bundle стратеги туршиж үзэх.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582472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үр дүн: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Одоо байгаа хэрэглэгчийн урсгалаас нэмэлт орлого бий болгоно.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642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KHISHIGJARGAL Gantulga</cp:lastModifiedBy>
  <cp:revision>2</cp:revision>
  <dcterms:created xsi:type="dcterms:W3CDTF">2026-08-08T15:37:21Z</dcterms:created>
  <dcterms:modified xsi:type="dcterms:W3CDTF">2026-08-08T15:41:53Z</dcterms:modified>
</cp:coreProperties>
</file>